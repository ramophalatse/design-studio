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keholder alignment" id="{702edbe6-88de-d7cb-4b2b-abc9f597efc4}">
          <p14:sldIdLst>
            <p14:sldId id="256"/>
            <p14:sldId id="257"/>
            <p14:sldId id="258"/>
            <p14:sldId id="259"/>
          </p14:sldIdLst>
        </p14:section>
        <p14:section name="Attendee material" id="{3c7c45a7-7cb2-442a-2bc8-359b19d5223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nvenor and reference" id="{b1a6264a-ca7a-178e-c38d-13a47b729bd6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Cover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edbank 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457200"/>
            <a:ext cx="868680" cy="886470"/>
          </a:xfrm>
          <a:prstGeom prst="rect">
            <a:avLst/>
          </a:prstGeom>
        </p:spPr>
      </p:pic>
      <p:pic>
        <p:nvPicPr>
          <p:cNvPr id="3" name="Image 1" descr="Nedba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99632"/>
            <a:ext cx="1554480" cy="2059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143000"/>
            <a:ext cx="84124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22402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edbank 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84048"/>
            <a:ext cx="566928" cy="578538"/>
          </a:xfrm>
          <a:prstGeom prst="rect">
            <a:avLst/>
          </a:prstGeom>
        </p:spPr>
      </p:pic>
      <p:pic>
        <p:nvPicPr>
          <p:cNvPr id="3" name="Image 1" descr="Nedba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400800"/>
            <a:ext cx="1188720" cy="157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355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 reason to belong · Stakeholder walkthrough V3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dn.discovery.co.za/vitality/priority-fast-track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2.co.uk/sponsorship/the-o2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ntander.co.uk/workcafe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bout.bankofamerica.com/en/making-an-impact/arts-and-culture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iscovery.co.za/vitality/ster-kinekor" TargetMode="External"/><Relationship Id="rId2" Type="http://schemas.openxmlformats.org/officeDocument/2006/relationships/hyperlink" Target="https://www.fnb.co.za/ways-to-bank/branch.html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discovery.co.za/vitality/priority-fast-track" TargetMode="External"/><Relationship Id="rId2" Type="http://schemas.openxmlformats.org/officeDocument/2006/relationships/hyperlink" Target="https://www.o2.co.uk/sponsorship/the-o2" TargetMode="External"/><Relationship Id="rId3" Type="http://schemas.openxmlformats.org/officeDocument/2006/relationships/hyperlink" Target="https://www.santander.co.uk/workcafe" TargetMode="External"/><Relationship Id="rId4" Type="http://schemas.openxmlformats.org/officeDocument/2006/relationships/hyperlink" Target="https://about.bankofamerica.com/en/making-an-impact/arts-and-culture" TargetMode="External"/><Relationship Id="rId5" Type="http://schemas.openxmlformats.org/officeDocument/2006/relationships/hyperlink" Target="https://www.discovery.co.za/vitality/ster-kinekor" TargetMode="External"/><Relationship Id="rId6" Type="http://schemas.openxmlformats.org/officeDocument/2006/relationships/hyperlink" Target="https://www.fnb.co.za/ways-to-bank/branch.html" TargetMode="External"/><Relationship Id="rId7" Type="http://schemas.openxmlformats.org/officeDocument/2006/relationships/hyperlink" Target="https://www.santander.co.uk/workcafe/london-cheapside" TargetMode="External"/><Relationship Id="rId8" Type="http://schemas.openxmlformats.org/officeDocument/2006/relationships/hyperlink" Target="https://ramophalatse.github.io/design-studio/main-bank-workshop.html" TargetMode="Externa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Stakeholder alignment</a:t>
            </a:r>
            <a:endParaRPr lang="en-US" sz="1400" dirty="0"/>
          </a:p>
        </p:txBody>
      </p:sp>
      <p:sp>
        <p:nvSpPr>
          <p:cNvPr id="3" name="Text 2"/>
          <p:cNvSpPr txBox="1"/>
          <p:nvPr/>
        </p:nvSpPr>
        <p:spPr>
          <a:xfrm>
            <a:off x="548640" y="8595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Review the proposed brief, session and materials with the workshop owner.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1430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A reason to belong.</a:t>
            </a:r>
            <a:endParaRPr lang="en-US" sz="6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focused 90-minute executive session to create a distinctive reason to bank with us.</a:t>
            </a:r>
            <a:endParaRPr lang="en-US" sz="2200" dirty="0"/>
          </a:p>
        </p:txBody>
      </p:sp>
      <p:sp>
        <p:nvSpPr>
          <p:cNvPr id="6" name="Panel 3"/>
          <p:cNvSpPr/>
          <p:nvPr/>
        </p:nvSpPr>
        <p:spPr>
          <a:xfrm>
            <a:off x="548640" y="3108960"/>
            <a:ext cx="786384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108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outcome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lead direction with a clear rationale, an important uncertainty and an owner for the next investigation.</a:t>
            </a:r>
            <a:endParaRPr lang="en-US" sz="1400" dirty="0"/>
          </a:p>
        </p:txBody>
      </p:sp>
      <p:sp>
        <p:nvSpPr>
          <p:cNvPr id="8" name="Panel 5"/>
          <p:cNvSpPr/>
          <p:nvPr/>
        </p:nvSpPr>
        <p:spPr>
          <a:xfrm>
            <a:off x="548640" y="4187952"/>
            <a:ext cx="3567074" cy="1691640"/>
          </a:xfrm>
          <a:prstGeom prst="roundRect">
            <a:avLst>
              <a:gd name="adj" fmla="val 6486"/>
            </a:avLst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9" name="Badge 6"/>
          <p:cNvSpPr/>
          <p:nvPr/>
        </p:nvSpPr>
        <p:spPr>
          <a:xfrm>
            <a:off x="749808" y="4389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89888" y="4389120"/>
            <a:ext cx="252465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Align the thinking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Agree the bank-level ambition and the role of the experience design team.</a:t>
            </a:r>
            <a:endParaRPr lang="en-US" sz="1400" dirty="0"/>
          </a:p>
        </p:txBody>
      </p:sp>
      <p:sp>
        <p:nvSpPr>
          <p:cNvPr id="12" name="Panel 9"/>
          <p:cNvSpPr/>
          <p:nvPr/>
        </p:nvSpPr>
        <p:spPr>
          <a:xfrm>
            <a:off x="4312310" y="4187952"/>
            <a:ext cx="3567074" cy="1691640"/>
          </a:xfrm>
          <a:prstGeom prst="roundRect">
            <a:avLst>
              <a:gd name="adj" fmla="val 6486"/>
            </a:avLst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3" name="Badge 10"/>
          <p:cNvSpPr/>
          <p:nvPr/>
        </p:nvSpPr>
        <p:spPr>
          <a:xfrm>
            <a:off x="4513478" y="4389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1347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153558" y="4389120"/>
            <a:ext cx="252465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Preview the attendee material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See the examples, four questions and creative prompts that will stimulate the room.</a:t>
            </a:r>
            <a:endParaRPr lang="en-US" sz="1400" dirty="0"/>
          </a:p>
        </p:txBody>
      </p:sp>
      <p:sp>
        <p:nvSpPr>
          <p:cNvPr id="16" name="Panel 13"/>
          <p:cNvSpPr/>
          <p:nvPr/>
        </p:nvSpPr>
        <p:spPr>
          <a:xfrm>
            <a:off x="8075981" y="4187952"/>
            <a:ext cx="3567074" cy="1691640"/>
          </a:xfrm>
          <a:prstGeom prst="roundRect">
            <a:avLst>
              <a:gd name="adj" fmla="val 6486"/>
            </a:avLst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7" name="Badge 14"/>
          <p:cNvSpPr/>
          <p:nvPr/>
        </p:nvSpPr>
        <p:spPr>
          <a:xfrm>
            <a:off x="8277149" y="4389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77149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17229" y="4389120"/>
            <a:ext cx="252465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Agree the session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Keep three substantial blocks and a considered closing decision.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144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Recent examples: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O2 Priority →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Santander Work Cafés →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Museums on Us →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Stakeholder alignment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Agree what the session is trying to create.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Make the bank itself desirable.</a:t>
            </a:r>
            <a:endParaRPr lang="en-US" sz="3200" dirty="0"/>
          </a:p>
        </p:txBody>
      </p:sp>
      <p:sp>
        <p:nvSpPr>
          <p:cNvPr id="4" name="Panel 18"/>
          <p:cNvSpPr/>
          <p:nvPr/>
        </p:nvSpPr>
        <p:spPr>
          <a:xfrm>
            <a:off x="548640" y="1600200"/>
            <a:ext cx="45720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5" name="Text 19"/>
          <p:cNvSpPr txBox="1"/>
          <p:nvPr/>
        </p:nvSpPr>
        <p:spPr>
          <a:xfrm>
            <a:off x="868680" y="1600200"/>
            <a:ext cx="3931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brief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Design a distinctive experience or advantage of being our bank’s customer that delivers real value, makes belonging desirable and strengthens preference for the bank across its different propositions.</a:t>
            </a:r>
            <a:endParaRPr lang="en-US" sz="1400" dirty="0"/>
          </a:p>
        </p:txBody>
      </p:sp>
      <p:sp>
        <p:nvSpPr>
          <p:cNvPr id="6" name="Text 20"/>
          <p:cNvSpPr txBox="1"/>
          <p:nvPr/>
        </p:nvSpPr>
        <p:spPr>
          <a:xfrm>
            <a:off x="5440680" y="1600200"/>
            <a:ext cx="6202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recognisable customer advantage can create a reason to want the relationship. The relevant CVP becomes a way into that relationship.</a:t>
            </a:r>
            <a:endParaRPr lang="en-US" sz="1800" dirty="0"/>
          </a:p>
        </p:txBody>
      </p:sp>
      <p:sp>
        <p:nvSpPr>
          <p:cNvPr id="7" name="Panel 21"/>
          <p:cNvSpPr/>
          <p:nvPr/>
        </p:nvSpPr>
        <p:spPr>
          <a:xfrm>
            <a:off x="5440680" y="2697480"/>
            <a:ext cx="620237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8" name="Text 22"/>
          <p:cNvSpPr txBox="1"/>
          <p:nvPr/>
        </p:nvSpPr>
        <p:spPr>
          <a:xfrm>
            <a:off x="5605272" y="2862072"/>
            <a:ext cx="587319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Real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Something useful happens in a moment the customer cares about.</a:t>
            </a:r>
            <a:endParaRPr lang="en-US" sz="1400" dirty="0"/>
          </a:p>
        </p:txBody>
      </p:sp>
      <p:sp>
        <p:nvSpPr>
          <p:cNvPr id="9" name="Panel 23"/>
          <p:cNvSpPr/>
          <p:nvPr/>
        </p:nvSpPr>
        <p:spPr>
          <a:xfrm>
            <a:off x="5440680" y="3749040"/>
            <a:ext cx="620237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 24"/>
          <p:cNvSpPr txBox="1"/>
          <p:nvPr/>
        </p:nvSpPr>
        <p:spPr>
          <a:xfrm>
            <a:off x="5605272" y="3913632"/>
            <a:ext cx="587319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Recognisable belonging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experience says something about what it means to be our customer.</a:t>
            </a:r>
            <a:endParaRPr lang="en-US" sz="1400" dirty="0"/>
          </a:p>
        </p:txBody>
      </p:sp>
      <p:sp>
        <p:nvSpPr>
          <p:cNvPr id="11" name="Panel 25"/>
          <p:cNvSpPr/>
          <p:nvPr/>
        </p:nvSpPr>
        <p:spPr>
          <a:xfrm>
            <a:off x="5440680" y="4800600"/>
            <a:ext cx="620237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ext 26"/>
          <p:cNvSpPr txBox="1"/>
          <p:nvPr/>
        </p:nvSpPr>
        <p:spPr>
          <a:xfrm>
            <a:off x="5605272" y="4965192"/>
            <a:ext cx="587319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Preference for the bank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Its appeal should carry beyond interest in the individual benefit.</a:t>
            </a:r>
            <a:endParaRPr lang="en-US" sz="1400" dirty="0"/>
          </a:p>
        </p:txBody>
      </p:sp>
      <p:sp>
        <p:nvSpPr>
          <p:cNvPr id="13" name="Text 27"/>
          <p:cNvSpPr txBox="1"/>
          <p:nvPr/>
        </p:nvSpPr>
        <p:spPr>
          <a:xfrm>
            <a:off x="5440680" y="5815584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The proposed halo is a hypothesis. We will need to test whether the experience changes bank preference.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Stakeholder alignment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Agree what the workshop owner needs and what experience design will provide.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Clear roles around one challenge.</a:t>
            </a:r>
            <a:endParaRPr lang="en-US" sz="3200" dirty="0"/>
          </a:p>
        </p:txBody>
      </p:sp>
      <p:sp>
        <p:nvSpPr>
          <p:cNvPr id="4" name="Panel 28"/>
          <p:cNvSpPr/>
          <p:nvPr/>
        </p:nvSpPr>
        <p:spPr>
          <a:xfrm>
            <a:off x="548640" y="1600200"/>
            <a:ext cx="3567074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5" name="Text 29"/>
          <p:cNvSpPr txBox="1"/>
          <p:nvPr/>
        </p:nvSpPr>
        <p:spPr>
          <a:xfrm>
            <a:off x="822960" y="1874520"/>
            <a:ext cx="301843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Workshop owner / convenor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Own the business challenge. Confirm fixed constraints, bring the right executives together and close with an accountable decision.</a:t>
            </a:r>
            <a:endParaRPr lang="en-US" sz="1400" dirty="0"/>
          </a:p>
        </p:txBody>
      </p:sp>
      <p:sp>
        <p:nvSpPr>
          <p:cNvPr id="6" name="Panel 30"/>
          <p:cNvSpPr/>
          <p:nvPr/>
        </p:nvSpPr>
        <p:spPr>
          <a:xfrm>
            <a:off x="4312310" y="1600200"/>
            <a:ext cx="3567074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7" name="Text 31"/>
          <p:cNvSpPr txBox="1"/>
          <p:nvPr/>
        </p:nvSpPr>
        <p:spPr>
          <a:xfrm>
            <a:off x="4586630" y="1874520"/>
            <a:ext cx="301843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Experience design team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Curate the examples and prompts. Help frame the customer experience, supply the concept sheet and support capture of the agreed direction.</a:t>
            </a:r>
            <a:endParaRPr lang="en-US" sz="1400" dirty="0"/>
          </a:p>
        </p:txBody>
      </p:sp>
      <p:sp>
        <p:nvSpPr>
          <p:cNvPr id="8" name="Panel 32"/>
          <p:cNvSpPr/>
          <p:nvPr/>
        </p:nvSpPr>
        <p:spPr>
          <a:xfrm>
            <a:off x="8075981" y="1600200"/>
            <a:ext cx="3567074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9" name="Text 33"/>
          <p:cNvSpPr txBox="1"/>
          <p:nvPr/>
        </p:nvSpPr>
        <p:spPr>
          <a:xfrm>
            <a:off x="8350301" y="1874520"/>
            <a:ext cx="301843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Executive participants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Bring different perspectives. Develop a candidate, constructively challenge assumptions and help choose what deserves further investigation.</a:t>
            </a:r>
            <a:endParaRPr lang="en-US" sz="1400" dirty="0"/>
          </a:p>
        </p:txBody>
      </p:sp>
      <p:sp>
        <p:nvSpPr>
          <p:cNvPr id="10" name="Panel 34"/>
          <p:cNvSpPr/>
          <p:nvPr/>
        </p:nvSpPr>
        <p:spPr>
          <a:xfrm>
            <a:off x="548640" y="461772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1" name="Text 35"/>
          <p:cNvSpPr txBox="1"/>
          <p:nvPr/>
        </p:nvSpPr>
        <p:spPr>
          <a:xfrm>
            <a:off x="822960" y="46177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For this alignment conversation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Agree the brief, the three-block flow and the attendee stimuli. Confirm who will facilitate and who will capture the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Stakeholder alignment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Agree the 90-minute flow and the outcome of each block.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blocks. Time to think.</a:t>
            </a:r>
            <a:endParaRPr lang="en-US" sz="3200" dirty="0"/>
          </a:p>
        </p:txBody>
      </p:sp>
      <p:sp>
        <p:nvSpPr>
          <p:cNvPr id="4" name="Timeline 36"/>
          <p:cNvSpPr/>
          <p:nvPr/>
        </p:nvSpPr>
        <p:spPr>
          <a:xfrm>
            <a:off x="548640" y="1600200"/>
            <a:ext cx="2441042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7"/>
          <p:cNvSpPr txBox="1"/>
          <p:nvPr/>
        </p:nvSpPr>
        <p:spPr>
          <a:xfrm>
            <a:off x="685800" y="1600200"/>
            <a:ext cx="2166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00–20 min</a:t>
            </a:r>
            <a:endParaRPr lang="en-US" sz="1200" dirty="0"/>
          </a:p>
        </p:txBody>
      </p:sp>
      <p:sp>
        <p:nvSpPr>
          <p:cNvPr id="6" name="Timeline 38"/>
          <p:cNvSpPr/>
          <p:nvPr/>
        </p:nvSpPr>
        <p:spPr>
          <a:xfrm>
            <a:off x="3044546" y="1600200"/>
            <a:ext cx="4882083" cy="38404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39"/>
          <p:cNvSpPr txBox="1"/>
          <p:nvPr/>
        </p:nvSpPr>
        <p:spPr>
          <a:xfrm>
            <a:off x="3181706" y="1600200"/>
            <a:ext cx="46077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20–60 min</a:t>
            </a:r>
            <a:endParaRPr lang="en-US" sz="1200" dirty="0"/>
          </a:p>
        </p:txBody>
      </p:sp>
      <p:sp>
        <p:nvSpPr>
          <p:cNvPr id="8" name="Timeline 40"/>
          <p:cNvSpPr/>
          <p:nvPr/>
        </p:nvSpPr>
        <p:spPr>
          <a:xfrm>
            <a:off x="7981493" y="1600200"/>
            <a:ext cx="3661562" cy="38404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ext 41"/>
          <p:cNvSpPr txBox="1"/>
          <p:nvPr/>
        </p:nvSpPr>
        <p:spPr>
          <a:xfrm>
            <a:off x="8118653" y="1600200"/>
            <a:ext cx="338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60–90 min</a:t>
            </a:r>
            <a:endParaRPr lang="en-US" sz="1200" dirty="0"/>
          </a:p>
        </p:txBody>
      </p:sp>
      <p:sp>
        <p:nvSpPr>
          <p:cNvPr id="10" name="Panel 42"/>
          <p:cNvSpPr/>
          <p:nvPr/>
        </p:nvSpPr>
        <p:spPr>
          <a:xfrm>
            <a:off x="548640" y="2194560"/>
            <a:ext cx="3567074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Text 43"/>
          <p:cNvSpPr txBox="1"/>
          <p:nvPr/>
        </p:nvSpPr>
        <p:spPr>
          <a:xfrm>
            <a:off x="822960" y="2359152"/>
            <a:ext cx="3018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20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minutes</a:t>
            </a:r>
            <a:endParaRPr lang="en-US" sz="1400" dirty="0"/>
          </a:p>
        </p:txBody>
      </p:sp>
      <p:sp>
        <p:nvSpPr>
          <p:cNvPr id="12" name="Text 44"/>
          <p:cNvSpPr txBox="1"/>
          <p:nvPr/>
        </p:nvSpPr>
        <p:spPr>
          <a:xfrm>
            <a:off x="822960" y="3154680"/>
            <a:ext cx="30184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Understand together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Frame the ambition and explore a small set of examples through the four questions.</a:t>
            </a:r>
            <a:endParaRPr lang="en-US" sz="1400" dirty="0"/>
          </a:p>
        </p:txBody>
      </p:sp>
      <p:sp>
        <p:nvSpPr>
          <p:cNvPr id="13" name="Divider 45"/>
          <p:cNvSpPr/>
          <p:nvPr/>
        </p:nvSpPr>
        <p:spPr>
          <a:xfrm>
            <a:off x="822960" y="4498848"/>
            <a:ext cx="301843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46"/>
          <p:cNvSpPr txBox="1"/>
          <p:nvPr/>
        </p:nvSpPr>
        <p:spPr>
          <a:xfrm>
            <a:off x="822960" y="4617720"/>
            <a:ext cx="30184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Leave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common brief and a shared picture of what we are trying to create.</a:t>
            </a:r>
            <a:endParaRPr lang="en-US" sz="1400" dirty="0"/>
          </a:p>
        </p:txBody>
      </p:sp>
      <p:sp>
        <p:nvSpPr>
          <p:cNvPr id="15" name="Panel 47"/>
          <p:cNvSpPr/>
          <p:nvPr/>
        </p:nvSpPr>
        <p:spPr>
          <a:xfrm>
            <a:off x="4312310" y="2194560"/>
            <a:ext cx="3567074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Text 48"/>
          <p:cNvSpPr txBox="1"/>
          <p:nvPr/>
        </p:nvSpPr>
        <p:spPr>
          <a:xfrm>
            <a:off x="4586630" y="2359152"/>
            <a:ext cx="3018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40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minutes</a:t>
            </a:r>
            <a:endParaRPr lang="en-US" sz="1400" dirty="0"/>
          </a:p>
        </p:txBody>
      </p:sp>
      <p:sp>
        <p:nvSpPr>
          <p:cNvPr id="17" name="Text 49"/>
          <p:cNvSpPr txBox="1"/>
          <p:nvPr/>
        </p:nvSpPr>
        <p:spPr>
          <a:xfrm>
            <a:off x="4586630" y="3154680"/>
            <a:ext cx="30184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 with care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teams work on one candidate and explore its relevance in two persona contexts.</a:t>
            </a:r>
            <a:endParaRPr lang="en-US" sz="1400" dirty="0"/>
          </a:p>
        </p:txBody>
      </p:sp>
      <p:sp>
        <p:nvSpPr>
          <p:cNvPr id="18" name="Divider 50"/>
          <p:cNvSpPr/>
          <p:nvPr/>
        </p:nvSpPr>
        <p:spPr>
          <a:xfrm>
            <a:off x="4586630" y="4498848"/>
            <a:ext cx="301843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51"/>
          <p:cNvSpPr txBox="1"/>
          <p:nvPr/>
        </p:nvSpPr>
        <p:spPr>
          <a:xfrm>
            <a:off x="4586630" y="4617720"/>
            <a:ext cx="30184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Leave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concrete customer scene, four answers and the main assumptions.</a:t>
            </a:r>
            <a:endParaRPr lang="en-US" sz="1400" dirty="0"/>
          </a:p>
        </p:txBody>
      </p:sp>
      <p:sp>
        <p:nvSpPr>
          <p:cNvPr id="20" name="Panel 52"/>
          <p:cNvSpPr/>
          <p:nvPr/>
        </p:nvSpPr>
        <p:spPr>
          <a:xfrm>
            <a:off x="8075981" y="2194560"/>
            <a:ext cx="3567074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21" name="Text 53"/>
          <p:cNvSpPr txBox="1"/>
          <p:nvPr/>
        </p:nvSpPr>
        <p:spPr>
          <a:xfrm>
            <a:off x="8350301" y="2359152"/>
            <a:ext cx="30184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30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minutes</a:t>
            </a:r>
            <a:endParaRPr lang="en-US" sz="1400" dirty="0"/>
          </a:p>
        </p:txBody>
      </p:sp>
      <p:sp>
        <p:nvSpPr>
          <p:cNvPr id="22" name="Text 54"/>
          <p:cNvSpPr txBox="1"/>
          <p:nvPr/>
        </p:nvSpPr>
        <p:spPr>
          <a:xfrm>
            <a:off x="8350301" y="3154680"/>
            <a:ext cx="30184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 and decide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Hear the ideas, improve the thinking and select a direction to investigate.</a:t>
            </a:r>
            <a:endParaRPr lang="en-US" sz="1400" dirty="0"/>
          </a:p>
        </p:txBody>
      </p:sp>
      <p:sp>
        <p:nvSpPr>
          <p:cNvPr id="23" name="Divider 55"/>
          <p:cNvSpPr/>
          <p:nvPr/>
        </p:nvSpPr>
        <p:spPr>
          <a:xfrm>
            <a:off x="8350301" y="4498848"/>
            <a:ext cx="301843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56"/>
          <p:cNvSpPr txBox="1"/>
          <p:nvPr/>
        </p:nvSpPr>
        <p:spPr>
          <a:xfrm>
            <a:off x="8350301" y="4617720"/>
            <a:ext cx="30184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Leave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lead direction, a rationale, a learning owner and a review date.</a:t>
            </a:r>
            <a:endParaRPr lang="en-US" sz="1400" dirty="0"/>
          </a:p>
        </p:txBody>
      </p:sp>
      <p:sp>
        <p:nvSpPr>
          <p:cNvPr id="25" name="Text 57"/>
          <p:cNvSpPr txBox="1"/>
          <p:nvPr/>
        </p:nvSpPr>
        <p:spPr>
          <a:xfrm>
            <a:off x="548640" y="57881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Use the final block for considered discussion. Protect its last ten minutes for synthesis and ownership.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Use to frame the examples, team work and closing discussion.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questions. One consistent lens.</a:t>
            </a:r>
            <a:endParaRPr lang="en-US" sz="3200" dirty="0"/>
          </a:p>
        </p:txBody>
      </p:sp>
      <p:sp>
        <p:nvSpPr>
          <p:cNvPr id="4" name="Panel 58"/>
          <p:cNvSpPr/>
          <p:nvPr/>
        </p:nvSpPr>
        <p:spPr>
          <a:xfrm>
            <a:off x="548640" y="1600200"/>
            <a:ext cx="544891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Badge 59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60"/>
          <p:cNvSpPr txBox="1"/>
          <p:nvPr/>
        </p:nvSpPr>
        <p:spPr>
          <a:xfrm>
            <a:off x="8046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61"/>
          <p:cNvSpPr txBox="1"/>
          <p:nvPr/>
        </p:nvSpPr>
        <p:spPr>
          <a:xfrm>
            <a:off x="1490472" y="1856232"/>
            <a:ext cx="425104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The customer experiences 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happens, and why is it valuable?</a:t>
            </a:r>
            <a:endParaRPr lang="en-US" sz="1400" dirty="0"/>
          </a:p>
        </p:txBody>
      </p:sp>
      <p:sp>
        <p:nvSpPr>
          <p:cNvPr id="8" name="Panel 62"/>
          <p:cNvSpPr/>
          <p:nvPr/>
        </p:nvSpPr>
        <p:spPr>
          <a:xfrm>
            <a:off x="6194146" y="1600200"/>
            <a:ext cx="544891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Badge 63"/>
          <p:cNvSpPr/>
          <p:nvPr/>
        </p:nvSpPr>
        <p:spPr>
          <a:xfrm>
            <a:off x="6450178" y="185623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64"/>
          <p:cNvSpPr txBox="1"/>
          <p:nvPr/>
        </p:nvSpPr>
        <p:spPr>
          <a:xfrm>
            <a:off x="6450178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65"/>
          <p:cNvSpPr txBox="1"/>
          <p:nvPr/>
        </p:nvSpPr>
        <p:spPr>
          <a:xfrm>
            <a:off x="7135978" y="1856232"/>
            <a:ext cx="425104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Someone else encounters 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makes them think, “I would like that”?</a:t>
            </a:r>
            <a:endParaRPr lang="en-US" sz="1400" dirty="0"/>
          </a:p>
        </p:txBody>
      </p:sp>
      <p:sp>
        <p:nvSpPr>
          <p:cNvPr id="12" name="Panel 66"/>
          <p:cNvSpPr/>
          <p:nvPr/>
        </p:nvSpPr>
        <p:spPr>
          <a:xfrm>
            <a:off x="548640" y="3081528"/>
            <a:ext cx="544891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Badge 67"/>
          <p:cNvSpPr/>
          <p:nvPr/>
        </p:nvSpPr>
        <p:spPr>
          <a:xfrm>
            <a:off x="804672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68"/>
          <p:cNvSpPr txBox="1"/>
          <p:nvPr/>
        </p:nvSpPr>
        <p:spPr>
          <a:xfrm>
            <a:off x="80467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69"/>
          <p:cNvSpPr txBox="1"/>
          <p:nvPr/>
        </p:nvSpPr>
        <p:spPr>
          <a:xfrm>
            <a:off x="1490472" y="3337560"/>
            <a:ext cx="425104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The bank gets the credit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the experience recognisably ours?</a:t>
            </a:r>
            <a:endParaRPr lang="en-US" sz="1400" dirty="0"/>
          </a:p>
        </p:txBody>
      </p:sp>
      <p:sp>
        <p:nvSpPr>
          <p:cNvPr id="16" name="Panel 70"/>
          <p:cNvSpPr/>
          <p:nvPr/>
        </p:nvSpPr>
        <p:spPr>
          <a:xfrm>
            <a:off x="6194146" y="3081528"/>
            <a:ext cx="544891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Badge 71"/>
          <p:cNvSpPr/>
          <p:nvPr/>
        </p:nvSpPr>
        <p:spPr>
          <a:xfrm>
            <a:off x="6450178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72"/>
          <p:cNvSpPr txBox="1"/>
          <p:nvPr/>
        </p:nvSpPr>
        <p:spPr>
          <a:xfrm>
            <a:off x="645017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73"/>
          <p:cNvSpPr txBox="1"/>
          <p:nvPr/>
        </p:nvSpPr>
        <p:spPr>
          <a:xfrm>
            <a:off x="7135978" y="3337560"/>
            <a:ext cx="425104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The attraction travels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could it strengthen preference across personas and propositions?</a:t>
            </a:r>
            <a:endParaRPr lang="en-US" sz="1400" dirty="0"/>
          </a:p>
        </p:txBody>
      </p:sp>
      <p:sp>
        <p:nvSpPr>
          <p:cNvPr id="20" name="Panel 74"/>
          <p:cNvSpPr/>
          <p:nvPr/>
        </p:nvSpPr>
        <p:spPr>
          <a:xfrm>
            <a:off x="548640" y="46634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21" name="Text 75"/>
          <p:cNvSpPr txBox="1"/>
          <p:nvPr/>
        </p:nvSpPr>
        <p:spPr>
          <a:xfrm>
            <a:off x="822960" y="466344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Look for the whole experience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Practical value creates the benefit. Visibility and clear bank association make belonging desirable. Reach gives the idea room to travel.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Opening reference · a useful advantage with a visible signal of belonging.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Discovery Priority Fast Track</a:t>
            </a:r>
            <a:endParaRPr lang="en-US" sz="3200" dirty="0"/>
          </a:p>
        </p:txBody>
      </p:sp>
      <p:pic>
        <p:nvPicPr>
          <p:cNvPr id="4" name="Photo 76" descr="Discovery Bank branding beside an airport Priority Fast Track la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206240" cy="2002971"/>
          </a:xfrm>
          <a:prstGeom prst="rect">
            <a:avLst/>
          </a:prstGeom>
        </p:spPr>
      </p:pic>
      <p:sp>
        <p:nvSpPr>
          <p:cNvPr id="5" name="Text 77"/>
          <p:cNvSpPr txBox="1"/>
          <p:nvPr/>
        </p:nvSpPr>
        <p:spPr>
          <a:xfrm>
            <a:off x="548640" y="3594027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Photo: Discovery’s Priority Fast Track page.</a:t>
            </a:r>
            <a:endParaRPr lang="en-US" sz="1000" dirty="0"/>
          </a:p>
        </p:txBody>
      </p:sp>
      <p:sp>
        <p:nvSpPr>
          <p:cNvPr id="6" name="Text 78"/>
          <p:cNvSpPr txBox="1"/>
          <p:nvPr/>
        </p:nvSpPr>
        <p:spPr>
          <a:xfrm>
            <a:off x="548640" y="3913632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Documented offer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Qualifying Discovery Bank Black and Purple cardholders can use a dedicated queue for security screening at OR Tambo domestic departures.</a:t>
            </a:r>
            <a:endParaRPr lang="en-US" sz="1400" dirty="0"/>
          </a:p>
        </p:txBody>
      </p:sp>
      <p:sp>
        <p:nvSpPr>
          <p:cNvPr id="7" name="Text 79"/>
          <p:cNvSpPr txBox="1"/>
          <p:nvPr/>
        </p:nvSpPr>
        <p:spPr>
          <a:xfrm>
            <a:off x="4983480" y="1554480"/>
            <a:ext cx="6659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Our reading through the four questions</a:t>
            </a:r>
            <a:endParaRPr lang="en-US" sz="1200" dirty="0"/>
          </a:p>
        </p:txBody>
      </p:sp>
      <p:sp>
        <p:nvSpPr>
          <p:cNvPr id="8" name="Panel 80"/>
          <p:cNvSpPr/>
          <p:nvPr/>
        </p:nvSpPr>
        <p:spPr>
          <a:xfrm>
            <a:off x="4983480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9" name="Badge 81"/>
          <p:cNvSpPr/>
          <p:nvPr/>
        </p:nvSpPr>
        <p:spPr>
          <a:xfrm>
            <a:off x="5138928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2"/>
          <p:cNvSpPr txBox="1"/>
          <p:nvPr/>
        </p:nvSpPr>
        <p:spPr>
          <a:xfrm>
            <a:off x="513892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83"/>
          <p:cNvSpPr txBox="1"/>
          <p:nvPr/>
        </p:nvSpPr>
        <p:spPr>
          <a:xfrm>
            <a:off x="5577840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customer experiences it</a:t>
            </a:r>
            <a:endParaRPr lang="en-US" sz="1400" dirty="0"/>
          </a:p>
        </p:txBody>
      </p:sp>
      <p:sp>
        <p:nvSpPr>
          <p:cNvPr id="12" name="Text 84"/>
          <p:cNvSpPr txBox="1"/>
          <p:nvPr/>
        </p:nvSpPr>
        <p:spPr>
          <a:xfrm>
            <a:off x="5138928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smoother route through a familiar airport moment.</a:t>
            </a:r>
            <a:endParaRPr lang="en-US" sz="1400" dirty="0"/>
          </a:p>
        </p:txBody>
      </p:sp>
      <p:sp>
        <p:nvSpPr>
          <p:cNvPr id="13" name="Panel 85"/>
          <p:cNvSpPr/>
          <p:nvPr/>
        </p:nvSpPr>
        <p:spPr>
          <a:xfrm>
            <a:off x="8404708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4" name="Badge 86"/>
          <p:cNvSpPr/>
          <p:nvPr/>
        </p:nvSpPr>
        <p:spPr>
          <a:xfrm>
            <a:off x="8560156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87"/>
          <p:cNvSpPr txBox="1"/>
          <p:nvPr/>
        </p:nvSpPr>
        <p:spPr>
          <a:xfrm>
            <a:off x="8560156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88"/>
          <p:cNvSpPr txBox="1"/>
          <p:nvPr/>
        </p:nvSpPr>
        <p:spPr>
          <a:xfrm>
            <a:off x="8999068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Someone else encounters it</a:t>
            </a:r>
            <a:endParaRPr lang="en-US" sz="1400" dirty="0"/>
          </a:p>
        </p:txBody>
      </p:sp>
      <p:sp>
        <p:nvSpPr>
          <p:cNvPr id="17" name="Text 89"/>
          <p:cNvSpPr txBox="1"/>
          <p:nvPr/>
        </p:nvSpPr>
        <p:spPr>
          <a:xfrm>
            <a:off x="8560156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Other travellers can see the branded lane and the customer advantage.</a:t>
            </a:r>
            <a:endParaRPr lang="en-US" sz="1400" dirty="0"/>
          </a:p>
        </p:txBody>
      </p:sp>
      <p:sp>
        <p:nvSpPr>
          <p:cNvPr id="18" name="Panel 90"/>
          <p:cNvSpPr/>
          <p:nvPr/>
        </p:nvSpPr>
        <p:spPr>
          <a:xfrm>
            <a:off x="4983480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9" name="Badge 91"/>
          <p:cNvSpPr/>
          <p:nvPr/>
        </p:nvSpPr>
        <p:spPr>
          <a:xfrm>
            <a:off x="5138928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92"/>
          <p:cNvSpPr txBox="1"/>
          <p:nvPr/>
        </p:nvSpPr>
        <p:spPr>
          <a:xfrm>
            <a:off x="513892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93"/>
          <p:cNvSpPr txBox="1"/>
          <p:nvPr/>
        </p:nvSpPr>
        <p:spPr>
          <a:xfrm>
            <a:off x="5577840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bank gets the credit</a:t>
            </a:r>
            <a:endParaRPr lang="en-US" sz="1400" dirty="0"/>
          </a:p>
        </p:txBody>
      </p:sp>
      <p:sp>
        <p:nvSpPr>
          <p:cNvPr id="22" name="Text 94"/>
          <p:cNvSpPr txBox="1"/>
          <p:nvPr/>
        </p:nvSpPr>
        <p:spPr>
          <a:xfrm>
            <a:off x="5138928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bank is named at the point where the benefit is delivered.</a:t>
            </a:r>
            <a:endParaRPr lang="en-US" sz="1400" dirty="0"/>
          </a:p>
        </p:txBody>
      </p:sp>
      <p:sp>
        <p:nvSpPr>
          <p:cNvPr id="23" name="Panel 95"/>
          <p:cNvSpPr/>
          <p:nvPr/>
        </p:nvSpPr>
        <p:spPr>
          <a:xfrm>
            <a:off x="8404708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24" name="Badge 96"/>
          <p:cNvSpPr/>
          <p:nvPr/>
        </p:nvSpPr>
        <p:spPr>
          <a:xfrm>
            <a:off x="8560156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97"/>
          <p:cNvSpPr txBox="1"/>
          <p:nvPr/>
        </p:nvSpPr>
        <p:spPr>
          <a:xfrm>
            <a:off x="8560156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98"/>
          <p:cNvSpPr txBox="1"/>
          <p:nvPr/>
        </p:nvSpPr>
        <p:spPr>
          <a:xfrm>
            <a:off x="8999068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attraction travels</a:t>
            </a:r>
            <a:endParaRPr lang="en-US" sz="1400" dirty="0"/>
          </a:p>
        </p:txBody>
      </p:sp>
      <p:sp>
        <p:nvSpPr>
          <p:cNvPr id="27" name="Text 99"/>
          <p:cNvSpPr txBox="1"/>
          <p:nvPr/>
        </p:nvSpPr>
        <p:spPr>
          <a:xfrm>
            <a:off x="8560156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principle is time saved through recognisable access; airport relevance is narrower than our full audience.</a:t>
            </a:r>
            <a:endParaRPr lang="en-US" sz="1400" dirty="0"/>
          </a:p>
        </p:txBody>
      </p:sp>
      <p:sp>
        <p:nvSpPr>
          <p:cNvPr id="28" name="Panel 100"/>
          <p:cNvSpPr/>
          <p:nvPr/>
        </p:nvSpPr>
        <p:spPr>
          <a:xfrm>
            <a:off x="548640" y="5285232"/>
            <a:ext cx="11094415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29" name="Text 101"/>
          <p:cNvSpPr txBox="1"/>
          <p:nvPr/>
        </p:nvSpPr>
        <p:spPr>
          <a:xfrm>
            <a:off x="822960" y="5285232"/>
            <a:ext cx="10545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Borrow the principle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Where could being our customer make an important everyday moment noticeably easier?</a:t>
            </a:r>
            <a:endParaRPr lang="en-US" sz="1400" dirty="0"/>
          </a:p>
        </p:txBody>
      </p:sp>
      <p:sp>
        <p:nvSpPr>
          <p:cNvPr id="30" name="Text 102"/>
          <p:cNvSpPr txBox="1"/>
          <p:nvPr/>
        </p:nvSpPr>
        <p:spPr>
          <a:xfrm>
            <a:off x="548640" y="5907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This is priority access through screening. The wider halo is an interpretation. </a:t>
            </a:r>
            <a:pPr indent="0" marL="0">
              <a:buNone/>
            </a:pPr>
            <a:r>
              <a:rPr lang="en-US" sz="1050" u="sng" dirty="0">
                <a:solidFill>
                  <a:schemeClr val="tx2"/>
                </a:solidFill>
                <a:hlinkClick r:id="rId2" invalidUrl="" action="" tgtFrame="" tooltip="https://cdn.discovery.co.za/vitality/priority-fast-trac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Discovery benefit guide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Live example · a better night out that can be shared with others.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O2 Priority</a:t>
            </a:r>
            <a:endParaRPr lang="en-US" sz="3200" dirty="0"/>
          </a:p>
        </p:txBody>
      </p:sp>
      <p:pic>
        <p:nvPicPr>
          <p:cNvPr id="4" name="Photo 103" descr="A DJ and people socialising in O2’s Blueroo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206240" cy="2002971"/>
          </a:xfrm>
          <a:prstGeom prst="rect">
            <a:avLst/>
          </a:prstGeom>
        </p:spPr>
      </p:pic>
      <p:sp>
        <p:nvSpPr>
          <p:cNvPr id="5" name="Text 104"/>
          <p:cNvSpPr txBox="1"/>
          <p:nvPr/>
        </p:nvSpPr>
        <p:spPr>
          <a:xfrm>
            <a:off x="548640" y="3594027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Photo: O2 Blueroom, from O2’s sponsorship page.</a:t>
            </a:r>
            <a:endParaRPr lang="en-US" sz="1000" dirty="0"/>
          </a:p>
        </p:txBody>
      </p:sp>
      <p:sp>
        <p:nvSpPr>
          <p:cNvPr id="6" name="Text 105"/>
          <p:cNvSpPr txBox="1"/>
          <p:nvPr/>
        </p:nvSpPr>
        <p:spPr>
          <a:xfrm>
            <a:off x="548640" y="3913632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Documented offer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O2 documents a priority queue, customer spaces and free cloakroom benefits at The O2. Some spaces allow up to three friends. A show ticket is still required.</a:t>
            </a:r>
            <a:endParaRPr lang="en-US" sz="1400" dirty="0"/>
          </a:p>
        </p:txBody>
      </p:sp>
      <p:sp>
        <p:nvSpPr>
          <p:cNvPr id="7" name="Text 106"/>
          <p:cNvSpPr txBox="1"/>
          <p:nvPr/>
        </p:nvSpPr>
        <p:spPr>
          <a:xfrm>
            <a:off x="4983480" y="1554480"/>
            <a:ext cx="6659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Our reading through the four questions</a:t>
            </a:r>
            <a:endParaRPr lang="en-US" sz="1200" dirty="0"/>
          </a:p>
        </p:txBody>
      </p:sp>
      <p:sp>
        <p:nvSpPr>
          <p:cNvPr id="8" name="Panel 107"/>
          <p:cNvSpPr/>
          <p:nvPr/>
        </p:nvSpPr>
        <p:spPr>
          <a:xfrm>
            <a:off x="4983480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9" name="Badge 108"/>
          <p:cNvSpPr/>
          <p:nvPr/>
        </p:nvSpPr>
        <p:spPr>
          <a:xfrm>
            <a:off x="5138928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109"/>
          <p:cNvSpPr txBox="1"/>
          <p:nvPr/>
        </p:nvSpPr>
        <p:spPr>
          <a:xfrm>
            <a:off x="513892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110"/>
          <p:cNvSpPr txBox="1"/>
          <p:nvPr/>
        </p:nvSpPr>
        <p:spPr>
          <a:xfrm>
            <a:off x="5577840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customer experiences it</a:t>
            </a:r>
            <a:endParaRPr lang="en-US" sz="1400" dirty="0"/>
          </a:p>
        </p:txBody>
      </p:sp>
      <p:sp>
        <p:nvSpPr>
          <p:cNvPr id="12" name="Text 111"/>
          <p:cNvSpPr txBox="1"/>
          <p:nvPr/>
        </p:nvSpPr>
        <p:spPr>
          <a:xfrm>
            <a:off x="5138928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smoother and more special night out.</a:t>
            </a:r>
            <a:endParaRPr lang="en-US" sz="1400" dirty="0"/>
          </a:p>
        </p:txBody>
      </p:sp>
      <p:sp>
        <p:nvSpPr>
          <p:cNvPr id="13" name="Panel 112"/>
          <p:cNvSpPr/>
          <p:nvPr/>
        </p:nvSpPr>
        <p:spPr>
          <a:xfrm>
            <a:off x="8404708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4" name="Badge 113"/>
          <p:cNvSpPr/>
          <p:nvPr/>
        </p:nvSpPr>
        <p:spPr>
          <a:xfrm>
            <a:off x="8560156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4"/>
          <p:cNvSpPr txBox="1"/>
          <p:nvPr/>
        </p:nvSpPr>
        <p:spPr>
          <a:xfrm>
            <a:off x="8560156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15"/>
          <p:cNvSpPr txBox="1"/>
          <p:nvPr/>
        </p:nvSpPr>
        <p:spPr>
          <a:xfrm>
            <a:off x="8999068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Someone else encounters it</a:t>
            </a:r>
            <a:endParaRPr lang="en-US" sz="1400" dirty="0"/>
          </a:p>
        </p:txBody>
      </p:sp>
      <p:sp>
        <p:nvSpPr>
          <p:cNvPr id="17" name="Text 116"/>
          <p:cNvSpPr txBox="1"/>
          <p:nvPr/>
        </p:nvSpPr>
        <p:spPr>
          <a:xfrm>
            <a:off x="8560156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Friends can share the advantage alongside the customer.</a:t>
            </a:r>
            <a:endParaRPr lang="en-US" sz="1400" dirty="0"/>
          </a:p>
        </p:txBody>
      </p:sp>
      <p:sp>
        <p:nvSpPr>
          <p:cNvPr id="18" name="Panel 117"/>
          <p:cNvSpPr/>
          <p:nvPr/>
        </p:nvSpPr>
        <p:spPr>
          <a:xfrm>
            <a:off x="4983480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9" name="Badge 118"/>
          <p:cNvSpPr/>
          <p:nvPr/>
        </p:nvSpPr>
        <p:spPr>
          <a:xfrm>
            <a:off x="5138928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19"/>
          <p:cNvSpPr txBox="1"/>
          <p:nvPr/>
        </p:nvSpPr>
        <p:spPr>
          <a:xfrm>
            <a:off x="513892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20"/>
          <p:cNvSpPr txBox="1"/>
          <p:nvPr/>
        </p:nvSpPr>
        <p:spPr>
          <a:xfrm>
            <a:off x="5577840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bank gets the credit</a:t>
            </a:r>
            <a:endParaRPr lang="en-US" sz="1400" dirty="0"/>
          </a:p>
        </p:txBody>
      </p:sp>
      <p:sp>
        <p:nvSpPr>
          <p:cNvPr id="22" name="Text 121"/>
          <p:cNvSpPr txBox="1"/>
          <p:nvPr/>
        </p:nvSpPr>
        <p:spPr>
          <a:xfrm>
            <a:off x="5138928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venue, Priority app and customer spaces connect the experience to O2.</a:t>
            </a:r>
            <a:endParaRPr lang="en-US" sz="1400" dirty="0"/>
          </a:p>
        </p:txBody>
      </p:sp>
      <p:sp>
        <p:nvSpPr>
          <p:cNvPr id="23" name="Panel 122"/>
          <p:cNvSpPr/>
          <p:nvPr/>
        </p:nvSpPr>
        <p:spPr>
          <a:xfrm>
            <a:off x="8404708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24" name="Badge 123"/>
          <p:cNvSpPr/>
          <p:nvPr/>
        </p:nvSpPr>
        <p:spPr>
          <a:xfrm>
            <a:off x="8560156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24"/>
          <p:cNvSpPr txBox="1"/>
          <p:nvPr/>
        </p:nvSpPr>
        <p:spPr>
          <a:xfrm>
            <a:off x="8560156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125"/>
          <p:cNvSpPr txBox="1"/>
          <p:nvPr/>
        </p:nvSpPr>
        <p:spPr>
          <a:xfrm>
            <a:off x="8999068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attraction travels</a:t>
            </a:r>
            <a:endParaRPr lang="en-US" sz="1400" dirty="0"/>
          </a:p>
        </p:txBody>
      </p:sp>
      <p:sp>
        <p:nvSpPr>
          <p:cNvPr id="27" name="Text 126"/>
          <p:cNvSpPr txBox="1"/>
          <p:nvPr/>
        </p:nvSpPr>
        <p:spPr>
          <a:xfrm>
            <a:off x="8560156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Different leisure settings could resonate with youth and employees; relevance would need local testing.</a:t>
            </a:r>
            <a:endParaRPr lang="en-US" sz="1400" dirty="0"/>
          </a:p>
        </p:txBody>
      </p:sp>
      <p:sp>
        <p:nvSpPr>
          <p:cNvPr id="28" name="Panel 127"/>
          <p:cNvSpPr/>
          <p:nvPr/>
        </p:nvSpPr>
        <p:spPr>
          <a:xfrm>
            <a:off x="548640" y="5285232"/>
            <a:ext cx="11094415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29" name="Text 128"/>
          <p:cNvSpPr txBox="1"/>
          <p:nvPr/>
        </p:nvSpPr>
        <p:spPr>
          <a:xfrm>
            <a:off x="822960" y="5285232"/>
            <a:ext cx="10545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Borrow the principle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Where could our customers and the people with them experience a recognisably better day?</a:t>
            </a:r>
            <a:endParaRPr lang="en-US" sz="1400" dirty="0"/>
          </a:p>
        </p:txBody>
      </p:sp>
      <p:sp>
        <p:nvSpPr>
          <p:cNvPr id="30" name="Text 129"/>
          <p:cNvSpPr txBox="1"/>
          <p:nvPr/>
        </p:nvSpPr>
        <p:spPr>
          <a:xfrm>
            <a:off x="548640" y="5907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The offer is documented. Its potential relevance to our personas is an interpretation. </a:t>
            </a:r>
            <a:pPr indent="0" marL="0">
              <a:buNone/>
            </a:pPr>
            <a:r>
              <a:rPr lang="en-US" sz="1050" u="sng" dirty="0">
                <a:solidFill>
                  <a:schemeClr val="tx2"/>
                </a:solidFill>
                <a:hlinkClick r:id="rId2" invalidUrl="" action="" tgtFrame="" tooltip="https://www.o2.co.uk/sponsorship/the-o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O2’s offer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Live example · a useful place to make things happen.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Santander Work Cafés</a:t>
            </a:r>
            <a:endParaRPr lang="en-US" sz="3200" dirty="0"/>
          </a:p>
        </p:txBody>
      </p:sp>
      <p:pic>
        <p:nvPicPr>
          <p:cNvPr id="4" name="Photo 130" descr="People meeting inside a Santander Work Café under its branded sig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206240" cy="2002971"/>
          </a:xfrm>
          <a:prstGeom prst="rect">
            <a:avLst/>
          </a:prstGeom>
        </p:spPr>
      </p:pic>
      <p:sp>
        <p:nvSpPr>
          <p:cNvPr id="5" name="Text 131"/>
          <p:cNvSpPr txBox="1"/>
          <p:nvPr/>
        </p:nvSpPr>
        <p:spPr>
          <a:xfrm>
            <a:off x="548640" y="3594027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Photo: Santander Work Café Cheapside page.</a:t>
            </a:r>
            <a:endParaRPr lang="en-US" sz="1000" dirty="0"/>
          </a:p>
        </p:txBody>
      </p:sp>
      <p:sp>
        <p:nvSpPr>
          <p:cNvPr id="6" name="Text 132"/>
          <p:cNvSpPr txBox="1"/>
          <p:nvPr/>
        </p:nvSpPr>
        <p:spPr>
          <a:xfrm>
            <a:off x="548640" y="3913632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Documented offer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General workspace and Wi-Fi are open to everyone. Free meeting rooms for up to two hours are reserved for Santander and TSB banking customers, including Cater Allen customers.</a:t>
            </a:r>
            <a:endParaRPr lang="en-US" sz="1400" dirty="0"/>
          </a:p>
        </p:txBody>
      </p:sp>
      <p:sp>
        <p:nvSpPr>
          <p:cNvPr id="7" name="Text 133"/>
          <p:cNvSpPr txBox="1"/>
          <p:nvPr/>
        </p:nvSpPr>
        <p:spPr>
          <a:xfrm>
            <a:off x="4983480" y="1554480"/>
            <a:ext cx="6659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Our reading through the four questions</a:t>
            </a:r>
            <a:endParaRPr lang="en-US" sz="1200" dirty="0"/>
          </a:p>
        </p:txBody>
      </p:sp>
      <p:sp>
        <p:nvSpPr>
          <p:cNvPr id="8" name="Panel 134"/>
          <p:cNvSpPr/>
          <p:nvPr/>
        </p:nvSpPr>
        <p:spPr>
          <a:xfrm>
            <a:off x="4983480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9" name="Badge 135"/>
          <p:cNvSpPr/>
          <p:nvPr/>
        </p:nvSpPr>
        <p:spPr>
          <a:xfrm>
            <a:off x="5138928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136"/>
          <p:cNvSpPr txBox="1"/>
          <p:nvPr/>
        </p:nvSpPr>
        <p:spPr>
          <a:xfrm>
            <a:off x="513892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137"/>
          <p:cNvSpPr txBox="1"/>
          <p:nvPr/>
        </p:nvSpPr>
        <p:spPr>
          <a:xfrm>
            <a:off x="5577840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customer experiences it</a:t>
            </a:r>
            <a:endParaRPr lang="en-US" sz="1400" dirty="0"/>
          </a:p>
        </p:txBody>
      </p:sp>
      <p:sp>
        <p:nvSpPr>
          <p:cNvPr id="12" name="Text 138"/>
          <p:cNvSpPr txBox="1"/>
          <p:nvPr/>
        </p:nvSpPr>
        <p:spPr>
          <a:xfrm>
            <a:off x="5138928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professional place to work or meet.</a:t>
            </a:r>
            <a:endParaRPr lang="en-US" sz="1400" dirty="0"/>
          </a:p>
        </p:txBody>
      </p:sp>
      <p:sp>
        <p:nvSpPr>
          <p:cNvPr id="13" name="Panel 139"/>
          <p:cNvSpPr/>
          <p:nvPr/>
        </p:nvSpPr>
        <p:spPr>
          <a:xfrm>
            <a:off x="8404708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4" name="Badge 140"/>
          <p:cNvSpPr/>
          <p:nvPr/>
        </p:nvSpPr>
        <p:spPr>
          <a:xfrm>
            <a:off x="8560156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41"/>
          <p:cNvSpPr txBox="1"/>
          <p:nvPr/>
        </p:nvSpPr>
        <p:spPr>
          <a:xfrm>
            <a:off x="8560156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2"/>
          <p:cNvSpPr txBox="1"/>
          <p:nvPr/>
        </p:nvSpPr>
        <p:spPr>
          <a:xfrm>
            <a:off x="8999068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Someone else encounters it</a:t>
            </a:r>
            <a:endParaRPr lang="en-US" sz="1400" dirty="0"/>
          </a:p>
        </p:txBody>
      </p:sp>
      <p:sp>
        <p:nvSpPr>
          <p:cNvPr id="17" name="Text 143"/>
          <p:cNvSpPr txBox="1"/>
          <p:nvPr/>
        </p:nvSpPr>
        <p:spPr>
          <a:xfrm>
            <a:off x="8560156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client or collaborator can experience the setting through the customer.</a:t>
            </a:r>
            <a:endParaRPr lang="en-US" sz="1400" dirty="0"/>
          </a:p>
        </p:txBody>
      </p:sp>
      <p:sp>
        <p:nvSpPr>
          <p:cNvPr id="18" name="Panel 144"/>
          <p:cNvSpPr/>
          <p:nvPr/>
        </p:nvSpPr>
        <p:spPr>
          <a:xfrm>
            <a:off x="4983480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9" name="Badge 145"/>
          <p:cNvSpPr/>
          <p:nvPr/>
        </p:nvSpPr>
        <p:spPr>
          <a:xfrm>
            <a:off x="5138928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46"/>
          <p:cNvSpPr txBox="1"/>
          <p:nvPr/>
        </p:nvSpPr>
        <p:spPr>
          <a:xfrm>
            <a:off x="513892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47"/>
          <p:cNvSpPr txBox="1"/>
          <p:nvPr/>
        </p:nvSpPr>
        <p:spPr>
          <a:xfrm>
            <a:off x="5577840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bank gets the credit</a:t>
            </a:r>
            <a:endParaRPr lang="en-US" sz="1400" dirty="0"/>
          </a:p>
        </p:txBody>
      </p:sp>
      <p:sp>
        <p:nvSpPr>
          <p:cNvPr id="22" name="Text 148"/>
          <p:cNvSpPr txBox="1"/>
          <p:nvPr/>
        </p:nvSpPr>
        <p:spPr>
          <a:xfrm>
            <a:off x="5138928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bank supplies the branded resource; prospects can encounter the open space.</a:t>
            </a:r>
            <a:endParaRPr lang="en-US" sz="1400" dirty="0"/>
          </a:p>
        </p:txBody>
      </p:sp>
      <p:sp>
        <p:nvSpPr>
          <p:cNvPr id="23" name="Panel 149"/>
          <p:cNvSpPr/>
          <p:nvPr/>
        </p:nvSpPr>
        <p:spPr>
          <a:xfrm>
            <a:off x="8404708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24" name="Badge 150"/>
          <p:cNvSpPr/>
          <p:nvPr/>
        </p:nvSpPr>
        <p:spPr>
          <a:xfrm>
            <a:off x="8560156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51"/>
          <p:cNvSpPr txBox="1"/>
          <p:nvPr/>
        </p:nvSpPr>
        <p:spPr>
          <a:xfrm>
            <a:off x="8560156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152"/>
          <p:cNvSpPr txBox="1"/>
          <p:nvPr/>
        </p:nvSpPr>
        <p:spPr>
          <a:xfrm>
            <a:off x="8999068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attraction travels</a:t>
            </a:r>
            <a:endParaRPr lang="en-US" sz="1400" dirty="0"/>
          </a:p>
        </p:txBody>
      </p:sp>
      <p:sp>
        <p:nvSpPr>
          <p:cNvPr id="27" name="Text 153"/>
          <p:cNvSpPr txBox="1"/>
          <p:nvPr/>
        </p:nvSpPr>
        <p:spPr>
          <a:xfrm>
            <a:off x="8560156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resource could serve a side-hustler’s meeting, remote work or a student project.</a:t>
            </a:r>
            <a:endParaRPr lang="en-US" sz="1400" dirty="0"/>
          </a:p>
        </p:txBody>
      </p:sp>
      <p:sp>
        <p:nvSpPr>
          <p:cNvPr id="28" name="Panel 154"/>
          <p:cNvSpPr/>
          <p:nvPr/>
        </p:nvSpPr>
        <p:spPr>
          <a:xfrm>
            <a:off x="548640" y="5285232"/>
            <a:ext cx="11094415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29" name="Text 155"/>
          <p:cNvSpPr txBox="1"/>
          <p:nvPr/>
        </p:nvSpPr>
        <p:spPr>
          <a:xfrm>
            <a:off x="822960" y="5285232"/>
            <a:ext cx="10545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Borrow the principle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useful resource could belonging to our bank put within reach?</a:t>
            </a:r>
            <a:endParaRPr lang="en-US" sz="1400" dirty="0"/>
          </a:p>
        </p:txBody>
      </p:sp>
      <p:sp>
        <p:nvSpPr>
          <p:cNvPr id="30" name="Text 156"/>
          <p:cNvSpPr txBox="1"/>
          <p:nvPr/>
        </p:nvSpPr>
        <p:spPr>
          <a:xfrm>
            <a:off x="548640" y="5907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The specified room entitlement is the customer advantage. Persona fit and bank preference remain hypotheses. </a:t>
            </a:r>
            <a:pPr indent="0" marL="0">
              <a:buNone/>
            </a:pPr>
            <a:r>
              <a:rPr lang="en-US" sz="1050" u="sng" dirty="0">
                <a:solidFill>
                  <a:schemeClr val="tx2"/>
                </a:solidFill>
                <a:hlinkClick r:id="rId2" invalidUrl="" action="" tgtFrame="" tooltip="https://www.santander.co.uk/workcaf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Santander’s UK offer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Live example · a bank card that opens doors beyond banking.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Bank of America: Museums on Us</a:t>
            </a:r>
            <a:endParaRPr lang="en-US" sz="3200" dirty="0"/>
          </a:p>
        </p:txBody>
      </p:sp>
      <p:pic>
        <p:nvPicPr>
          <p:cNvPr id="4" name="Photo 157" descr="Visitors viewing an installation in the Philadelphia Museum of Ar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206240" cy="2002971"/>
          </a:xfrm>
          <a:prstGeom prst="rect">
            <a:avLst/>
          </a:prstGeom>
        </p:spPr>
      </p:pic>
      <p:sp>
        <p:nvSpPr>
          <p:cNvPr id="5" name="Text 158"/>
          <p:cNvSpPr txBox="1"/>
          <p:nvPr/>
        </p:nvSpPr>
        <p:spPr>
          <a:xfrm>
            <a:off x="548640" y="3594027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Programme imagery: Bank of America arts and culture page.</a:t>
            </a:r>
            <a:endParaRPr lang="en-US" sz="1000" dirty="0"/>
          </a:p>
        </p:txBody>
      </p:sp>
      <p:sp>
        <p:nvSpPr>
          <p:cNvPr id="6" name="Text 159"/>
          <p:cNvSpPr txBox="1"/>
          <p:nvPr/>
        </p:nvSpPr>
        <p:spPr>
          <a:xfrm>
            <a:off x="548640" y="3913632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Documented offer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Eligible credit and debit cardholders receive one free general admission at participating cultural institutions on the first full weekend each month. It covers the individual cardholder.</a:t>
            </a:r>
            <a:endParaRPr lang="en-US" sz="1400" dirty="0"/>
          </a:p>
        </p:txBody>
      </p:sp>
      <p:sp>
        <p:nvSpPr>
          <p:cNvPr id="7" name="Text 160"/>
          <p:cNvSpPr txBox="1"/>
          <p:nvPr/>
        </p:nvSpPr>
        <p:spPr>
          <a:xfrm>
            <a:off x="4983480" y="1554480"/>
            <a:ext cx="6659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Our reading through the four questions</a:t>
            </a:r>
            <a:endParaRPr lang="en-US" sz="1200" dirty="0"/>
          </a:p>
        </p:txBody>
      </p:sp>
      <p:sp>
        <p:nvSpPr>
          <p:cNvPr id="8" name="Panel 161"/>
          <p:cNvSpPr/>
          <p:nvPr/>
        </p:nvSpPr>
        <p:spPr>
          <a:xfrm>
            <a:off x="4983480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9" name="Badge 162"/>
          <p:cNvSpPr/>
          <p:nvPr/>
        </p:nvSpPr>
        <p:spPr>
          <a:xfrm>
            <a:off x="5138928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163"/>
          <p:cNvSpPr txBox="1"/>
          <p:nvPr/>
        </p:nvSpPr>
        <p:spPr>
          <a:xfrm>
            <a:off x="513892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164"/>
          <p:cNvSpPr txBox="1"/>
          <p:nvPr/>
        </p:nvSpPr>
        <p:spPr>
          <a:xfrm>
            <a:off x="5577840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customer experiences it</a:t>
            </a:r>
            <a:endParaRPr lang="en-US" sz="1400" dirty="0"/>
          </a:p>
        </p:txBody>
      </p:sp>
      <p:sp>
        <p:nvSpPr>
          <p:cNvPr id="12" name="Text 165"/>
          <p:cNvSpPr txBox="1"/>
          <p:nvPr/>
        </p:nvSpPr>
        <p:spPr>
          <a:xfrm>
            <a:off x="5138928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outing made accessible through the bank card.</a:t>
            </a:r>
            <a:endParaRPr lang="en-US" sz="1400" dirty="0"/>
          </a:p>
        </p:txBody>
      </p:sp>
      <p:sp>
        <p:nvSpPr>
          <p:cNvPr id="13" name="Panel 166"/>
          <p:cNvSpPr/>
          <p:nvPr/>
        </p:nvSpPr>
        <p:spPr>
          <a:xfrm>
            <a:off x="8404708" y="182880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4" name="Badge 167"/>
          <p:cNvSpPr/>
          <p:nvPr/>
        </p:nvSpPr>
        <p:spPr>
          <a:xfrm>
            <a:off x="8560156" y="198424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68"/>
          <p:cNvSpPr txBox="1"/>
          <p:nvPr/>
        </p:nvSpPr>
        <p:spPr>
          <a:xfrm>
            <a:off x="8560156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69"/>
          <p:cNvSpPr txBox="1"/>
          <p:nvPr/>
        </p:nvSpPr>
        <p:spPr>
          <a:xfrm>
            <a:off x="8999068" y="198424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Someone else encounters it</a:t>
            </a:r>
            <a:endParaRPr lang="en-US" sz="1400" dirty="0"/>
          </a:p>
        </p:txBody>
      </p:sp>
      <p:sp>
        <p:nvSpPr>
          <p:cNvPr id="17" name="Text 170"/>
          <p:cNvSpPr txBox="1"/>
          <p:nvPr/>
        </p:nvSpPr>
        <p:spPr>
          <a:xfrm>
            <a:off x="8560156" y="242316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companion can hear that the card enabled admission.</a:t>
            </a:r>
            <a:endParaRPr lang="en-US" sz="1400" dirty="0"/>
          </a:p>
        </p:txBody>
      </p:sp>
      <p:sp>
        <p:nvSpPr>
          <p:cNvPr id="18" name="Panel 171"/>
          <p:cNvSpPr/>
          <p:nvPr/>
        </p:nvSpPr>
        <p:spPr>
          <a:xfrm>
            <a:off x="4983480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19" name="Badge 172"/>
          <p:cNvSpPr/>
          <p:nvPr/>
        </p:nvSpPr>
        <p:spPr>
          <a:xfrm>
            <a:off x="5138928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3"/>
          <p:cNvSpPr txBox="1"/>
          <p:nvPr/>
        </p:nvSpPr>
        <p:spPr>
          <a:xfrm>
            <a:off x="513892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74"/>
          <p:cNvSpPr txBox="1"/>
          <p:nvPr/>
        </p:nvSpPr>
        <p:spPr>
          <a:xfrm>
            <a:off x="5577840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bank gets the credit</a:t>
            </a:r>
            <a:endParaRPr lang="en-US" sz="1400" dirty="0"/>
          </a:p>
        </p:txBody>
      </p:sp>
      <p:sp>
        <p:nvSpPr>
          <p:cNvPr id="22" name="Text 175"/>
          <p:cNvSpPr txBox="1"/>
          <p:nvPr/>
        </p:nvSpPr>
        <p:spPr>
          <a:xfrm>
            <a:off x="5138928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card is presented at entry; the programme gives the benefit a clear identity.</a:t>
            </a:r>
            <a:endParaRPr lang="en-US" sz="1400" dirty="0"/>
          </a:p>
        </p:txBody>
      </p:sp>
      <p:sp>
        <p:nvSpPr>
          <p:cNvPr id="23" name="Panel 176"/>
          <p:cNvSpPr/>
          <p:nvPr/>
        </p:nvSpPr>
        <p:spPr>
          <a:xfrm>
            <a:off x="8404708" y="3566160"/>
            <a:ext cx="3238348" cy="1627632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</p:spPr>
      </p:sp>
      <p:sp>
        <p:nvSpPr>
          <p:cNvPr id="24" name="Badge 177"/>
          <p:cNvSpPr/>
          <p:nvPr/>
        </p:nvSpPr>
        <p:spPr>
          <a:xfrm>
            <a:off x="8560156" y="372160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78"/>
          <p:cNvSpPr txBox="1"/>
          <p:nvPr/>
        </p:nvSpPr>
        <p:spPr>
          <a:xfrm>
            <a:off x="8560156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179"/>
          <p:cNvSpPr txBox="1"/>
          <p:nvPr/>
        </p:nvSpPr>
        <p:spPr>
          <a:xfrm>
            <a:off x="8999068" y="3721608"/>
            <a:ext cx="2488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attraction travels</a:t>
            </a:r>
            <a:endParaRPr lang="en-US" sz="1400" dirty="0"/>
          </a:p>
        </p:txBody>
      </p:sp>
      <p:sp>
        <p:nvSpPr>
          <p:cNvPr id="27" name="Text 180"/>
          <p:cNvSpPr txBox="1"/>
          <p:nvPr/>
        </p:nvSpPr>
        <p:spPr>
          <a:xfrm>
            <a:off x="8560156" y="4160520"/>
            <a:ext cx="29274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Locally relevant venues could serve youth, parents and employees through a recurring calendar.</a:t>
            </a:r>
            <a:endParaRPr lang="en-US" sz="1400" dirty="0"/>
          </a:p>
        </p:txBody>
      </p:sp>
      <p:sp>
        <p:nvSpPr>
          <p:cNvPr id="28" name="Panel 181"/>
          <p:cNvSpPr/>
          <p:nvPr/>
        </p:nvSpPr>
        <p:spPr>
          <a:xfrm>
            <a:off x="548640" y="5285232"/>
            <a:ext cx="11094415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29" name="Text 182"/>
          <p:cNvSpPr txBox="1"/>
          <p:nvPr/>
        </p:nvSpPr>
        <p:spPr>
          <a:xfrm>
            <a:off x="822960" y="5285232"/>
            <a:ext cx="10545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Borrow the principle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could our bank unlock that people would look forward to and plan around?</a:t>
            </a:r>
            <a:endParaRPr lang="en-US" sz="1400" dirty="0"/>
          </a:p>
        </p:txBody>
      </p:sp>
      <p:sp>
        <p:nvSpPr>
          <p:cNvPr id="30" name="Text 183"/>
          <p:cNvSpPr txBox="1"/>
          <p:nvPr/>
        </p:nvSpPr>
        <p:spPr>
          <a:xfrm>
            <a:off x="548640" y="5907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The US programme does not provide free admission for the whole family. Local fit is a hypothesis. </a:t>
            </a:r>
            <a:pPr indent="0" marL="0">
              <a:buNone/>
            </a:pPr>
            <a:r>
              <a:rPr lang="en-US" sz="1050" u="sng" dirty="0">
                <a:solidFill>
                  <a:schemeClr val="tx2"/>
                </a:solidFill>
                <a:hlinkClick r:id="rId2" invalidUrl="" action="" tgtFrame="" tooltip="https://about.bankofamerica.com/en/making-an-impact/arts-and-cul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Programme eligibility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Reserve 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Use if a local comparison will help the room; these do not add another agenda block.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local angles to keep in reserve.</a:t>
            </a:r>
            <a:endParaRPr lang="en-US" sz="3200" dirty="0"/>
          </a:p>
        </p:txBody>
      </p:sp>
      <p:sp>
        <p:nvSpPr>
          <p:cNvPr id="4" name="Panel 184"/>
          <p:cNvSpPr/>
          <p:nvPr/>
        </p:nvSpPr>
        <p:spPr>
          <a:xfrm>
            <a:off x="548640" y="1600200"/>
            <a:ext cx="544891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Text 185"/>
          <p:cNvSpPr txBox="1"/>
          <p:nvPr/>
        </p:nvSpPr>
        <p:spPr>
          <a:xfrm>
            <a:off x="822960" y="1874520"/>
            <a:ext cx="49002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 recurring family experience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Discovery Vitality’s Ster-Kinekor benefit offers qualifying adults discounts and qualifying children specified free movies before 7pm, subject to an annual Kids Vitality Health Review.</a:t>
            </a:r>
            <a:endParaRPr lang="en-US" sz="1400" dirty="0"/>
          </a:p>
        </p:txBody>
      </p:sp>
      <p:sp>
        <p:nvSpPr>
          <p:cNvPr id="6" name="Panel 186"/>
          <p:cNvSpPr/>
          <p:nvPr/>
        </p:nvSpPr>
        <p:spPr>
          <a:xfrm>
            <a:off x="548640" y="3721608"/>
            <a:ext cx="544891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7" name="Text 187"/>
          <p:cNvSpPr txBox="1"/>
          <p:nvPr/>
        </p:nvSpPr>
        <p:spPr>
          <a:xfrm>
            <a:off x="822960" y="3721608"/>
            <a:ext cx="49002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it could stimulate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 experience families look forward to, with a benefit that is easy to explain. Vitality Health eligibility applies; this is not automatic bank entitlement.</a:t>
            </a:r>
            <a:endParaRPr lang="en-US" sz="1400" dirty="0"/>
          </a:p>
        </p:txBody>
      </p:sp>
      <p:sp>
        <p:nvSpPr>
          <p:cNvPr id="8" name="Panel 188"/>
          <p:cNvSpPr/>
          <p:nvPr/>
        </p:nvSpPr>
        <p:spPr>
          <a:xfrm>
            <a:off x="6194146" y="1600200"/>
            <a:ext cx="544891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Text 189"/>
          <p:cNvSpPr txBox="1"/>
          <p:nvPr/>
        </p:nvSpPr>
        <p:spPr>
          <a:xfrm>
            <a:off x="6468466" y="1874520"/>
            <a:ext cx="49002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Help with important life admin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FNB offers specified ID and passport processes at participating branches for qualifying customers with active, funded transactional accounts.</a:t>
            </a:r>
            <a:endParaRPr lang="en-US" sz="1400" dirty="0"/>
          </a:p>
        </p:txBody>
      </p:sp>
      <p:sp>
        <p:nvSpPr>
          <p:cNvPr id="10" name="Panel 190"/>
          <p:cNvSpPr/>
          <p:nvPr/>
        </p:nvSpPr>
        <p:spPr>
          <a:xfrm>
            <a:off x="6194146" y="3721608"/>
            <a:ext cx="544891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11" name="Text 191"/>
          <p:cNvSpPr txBox="1"/>
          <p:nvPr/>
        </p:nvSpPr>
        <p:spPr>
          <a:xfrm>
            <a:off x="6468466" y="3721608"/>
            <a:ext cx="49002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it could stimulate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bank relationship that makes a difficult task manageable. Multiple banks participate in Home Affairs services, so distinctive ownership needs examination.</a:t>
            </a:r>
            <a:endParaRPr lang="en-US" sz="1400" dirty="0"/>
          </a:p>
        </p:txBody>
      </p:sp>
      <p:sp>
        <p:nvSpPr>
          <p:cNvPr id="12" name="Text 192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2"/>
                </a:solidFill>
                <a:hlinkClick r:id="rId1" invalidUrl="" action="" tgtFrame="" tooltip="https://www.discovery.co.za/vitality/ster-kinek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Discovery’s cinema benefit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tx2"/>
                </a:solidFill>
                <a:hlinkClick r:id="rId2" invalidUrl="" action="" tgtFrame="" tooltip="https://www.fnb.co.za/ways-to-bank/branch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FNB’s service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. The possible halo is our interpretation.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stimulus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Offer these prompts if teams need a starting point.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places to start thinking.</a:t>
            </a:r>
            <a:endParaRPr lang="en-US" sz="3200" dirty="0"/>
          </a:p>
        </p:txBody>
      </p:sp>
      <p:sp>
        <p:nvSpPr>
          <p:cNvPr id="4" name="Panel 193"/>
          <p:cNvSpPr/>
          <p:nvPr/>
        </p:nvSpPr>
        <p:spPr>
          <a:xfrm>
            <a:off x="548640" y="1600200"/>
            <a:ext cx="2636444" cy="288036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5" name="Text 194"/>
          <p:cNvSpPr txBox="1"/>
          <p:nvPr/>
        </p:nvSpPr>
        <p:spPr>
          <a:xfrm>
            <a:off x="777240" y="1828800"/>
            <a:ext cx="21792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Give me time back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Where could belonging remove a frustrating wait or unnecessary effort? Think about work, family and everyday life.</a:t>
            </a:r>
            <a:endParaRPr lang="en-US" sz="1400" dirty="0"/>
          </a:p>
        </p:txBody>
      </p:sp>
      <p:sp>
        <p:nvSpPr>
          <p:cNvPr id="6" name="Panel 195"/>
          <p:cNvSpPr/>
          <p:nvPr/>
        </p:nvSpPr>
        <p:spPr>
          <a:xfrm>
            <a:off x="3367964" y="1600200"/>
            <a:ext cx="2636444" cy="288036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7" name="Text 196"/>
          <p:cNvSpPr txBox="1"/>
          <p:nvPr/>
        </p:nvSpPr>
        <p:spPr>
          <a:xfrm>
            <a:off x="3596564" y="1828800"/>
            <a:ext cx="21792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Put something useful within reach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place, resource or access could help people study, work or earn?</a:t>
            </a:r>
            <a:endParaRPr lang="en-US" sz="1400" dirty="0"/>
          </a:p>
        </p:txBody>
      </p:sp>
      <p:sp>
        <p:nvSpPr>
          <p:cNvPr id="8" name="Panel 197"/>
          <p:cNvSpPr/>
          <p:nvPr/>
        </p:nvSpPr>
        <p:spPr>
          <a:xfrm>
            <a:off x="6187288" y="1600200"/>
            <a:ext cx="2636444" cy="288036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9" name="Text 198"/>
          <p:cNvSpPr txBox="1"/>
          <p:nvPr/>
        </p:nvSpPr>
        <p:spPr>
          <a:xfrm>
            <a:off x="6415888" y="1828800"/>
            <a:ext cx="21792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Make shared moments better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could a customer enjoy with people who matter, with individual choice preserved?</a:t>
            </a:r>
            <a:endParaRPr lang="en-US" sz="1400" dirty="0"/>
          </a:p>
        </p:txBody>
      </p:sp>
      <p:sp>
        <p:nvSpPr>
          <p:cNvPr id="10" name="Panel 199"/>
          <p:cNvSpPr/>
          <p:nvPr/>
        </p:nvSpPr>
        <p:spPr>
          <a:xfrm>
            <a:off x="9006611" y="1600200"/>
            <a:ext cx="2636444" cy="288036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11" name="Text 200"/>
          <p:cNvSpPr txBox="1"/>
          <p:nvPr/>
        </p:nvSpPr>
        <p:spPr>
          <a:xfrm>
            <a:off x="9235211" y="1828800"/>
            <a:ext cx="21792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Open doors to experiences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could people look forward to, plan around and associate with our bank?</a:t>
            </a:r>
            <a:endParaRPr lang="en-US" sz="1400" dirty="0"/>
          </a:p>
        </p:txBody>
      </p:sp>
      <p:sp>
        <p:nvSpPr>
          <p:cNvPr id="12" name="Panel 201"/>
          <p:cNvSpPr/>
          <p:nvPr/>
        </p:nvSpPr>
        <p:spPr>
          <a:xfrm>
            <a:off x="548640" y="470916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3" name="Text 202"/>
          <p:cNvSpPr txBox="1"/>
          <p:nvPr/>
        </p:nvSpPr>
        <p:spPr>
          <a:xfrm>
            <a:off x="822960" y="470916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Keep the bank association clear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useful benefit becomes a stronger idea when customers and prospective customers can recognise why it comes from 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brief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Introduce the 40-minute working block.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team. One considered candidate.</a:t>
            </a:r>
            <a:endParaRPr lang="en-US" sz="3200" dirty="0"/>
          </a:p>
        </p:txBody>
      </p:sp>
      <p:sp>
        <p:nvSpPr>
          <p:cNvPr id="4" name="Panel 203"/>
          <p:cNvSpPr/>
          <p:nvPr/>
        </p:nvSpPr>
        <p:spPr>
          <a:xfrm>
            <a:off x="548640" y="1600200"/>
            <a:ext cx="11094415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5" name="Text 204"/>
          <p:cNvSpPr txBox="1"/>
          <p:nvPr/>
        </p:nvSpPr>
        <p:spPr>
          <a:xfrm>
            <a:off x="822960" y="160020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brief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Design a distinctive experience or advantage of being our bank’s customer that delivers real value, makes belonging desirable and strengthens preference for the bank across its different propositions.</a:t>
            </a:r>
            <a:endParaRPr lang="en-US" sz="1400" dirty="0"/>
          </a:p>
        </p:txBody>
      </p:sp>
      <p:sp>
        <p:nvSpPr>
          <p:cNvPr id="6" name="Panel 205"/>
          <p:cNvSpPr/>
          <p:nvPr/>
        </p:nvSpPr>
        <p:spPr>
          <a:xfrm>
            <a:off x="548640" y="3264408"/>
            <a:ext cx="356707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206"/>
          <p:cNvSpPr txBox="1"/>
          <p:nvPr/>
        </p:nvSpPr>
        <p:spPr>
          <a:xfrm>
            <a:off x="822960" y="3538728"/>
            <a:ext cx="3018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Make it concrete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one customer using the experience. Include practical value and what makes belonging desirable.</a:t>
            </a:r>
            <a:endParaRPr lang="en-US" sz="1400" dirty="0"/>
          </a:p>
        </p:txBody>
      </p:sp>
      <p:sp>
        <p:nvSpPr>
          <p:cNvPr id="8" name="Panel 207"/>
          <p:cNvSpPr/>
          <p:nvPr/>
        </p:nvSpPr>
        <p:spPr>
          <a:xfrm>
            <a:off x="4312310" y="3264408"/>
            <a:ext cx="356707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Text 208"/>
          <p:cNvSpPr txBox="1"/>
          <p:nvPr/>
        </p:nvSpPr>
        <p:spPr>
          <a:xfrm>
            <a:off x="4586630" y="3538728"/>
            <a:ext cx="3018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Test its reach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Explore at least two persona contexts. Keep the central idea consistent and explain what changes.</a:t>
            </a:r>
            <a:endParaRPr lang="en-US" sz="1400" dirty="0"/>
          </a:p>
        </p:txBody>
      </p:sp>
      <p:sp>
        <p:nvSpPr>
          <p:cNvPr id="10" name="Panel 209"/>
          <p:cNvSpPr/>
          <p:nvPr/>
        </p:nvSpPr>
        <p:spPr>
          <a:xfrm>
            <a:off x="8075981" y="3264408"/>
            <a:ext cx="356707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Text 210"/>
          <p:cNvSpPr txBox="1"/>
          <p:nvPr/>
        </p:nvSpPr>
        <p:spPr>
          <a:xfrm>
            <a:off x="8350301" y="3538728"/>
            <a:ext cx="3018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Name the unknowns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qualifies, who supplies the value and who pays? Identify the most important thing to learn next.</a:t>
            </a:r>
            <a:endParaRPr lang="en-US" sz="1400" dirty="0"/>
          </a:p>
        </p:txBody>
      </p:sp>
      <p:sp>
        <p:nvSpPr>
          <p:cNvPr id="12" name="Text 211"/>
          <p:cNvSpPr txBox="1"/>
          <p:nvPr/>
        </p:nvSpPr>
        <p:spPr>
          <a:xfrm>
            <a:off x="548640" y="5623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Use the four questions on the concept sheet. Begin with individual thinking, then develop the idea together.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Attendee resource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Print this page for each team. It is the single working sheet.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team’s concept sheet.</a:t>
            </a:r>
            <a:endParaRPr lang="en-US" sz="3200" dirty="0"/>
          </a:p>
        </p:txBody>
      </p:sp>
      <p:sp>
        <p:nvSpPr>
          <p:cNvPr id="4" name="Text 212"/>
          <p:cNvSpPr txBox="1"/>
          <p:nvPr/>
        </p:nvSpPr>
        <p:spPr>
          <a:xfrm>
            <a:off x="548640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Team:</a:t>
            </a:r>
            <a:endParaRPr lang="en-US" sz="1400" dirty="0"/>
          </a:p>
        </p:txBody>
      </p:sp>
      <p:sp>
        <p:nvSpPr>
          <p:cNvPr id="5" name="Writing line 213"/>
          <p:cNvSpPr/>
          <p:nvPr/>
        </p:nvSpPr>
        <p:spPr>
          <a:xfrm>
            <a:off x="1234440" y="1810512"/>
            <a:ext cx="4206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214"/>
          <p:cNvSpPr txBox="1"/>
          <p:nvPr/>
        </p:nvSpPr>
        <p:spPr>
          <a:xfrm>
            <a:off x="5824728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Working name:</a:t>
            </a:r>
            <a:endParaRPr lang="en-US" sz="1400" dirty="0"/>
          </a:p>
        </p:txBody>
      </p:sp>
      <p:sp>
        <p:nvSpPr>
          <p:cNvPr id="7" name="Writing line 215"/>
          <p:cNvSpPr/>
          <p:nvPr/>
        </p:nvSpPr>
        <p:spPr>
          <a:xfrm>
            <a:off x="7333488" y="1810512"/>
            <a:ext cx="4309567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8" name="Worksheet box 216"/>
          <p:cNvSpPr/>
          <p:nvPr/>
        </p:nvSpPr>
        <p:spPr>
          <a:xfrm>
            <a:off x="548640" y="2011680"/>
            <a:ext cx="5448910" cy="1572768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217"/>
          <p:cNvSpPr txBox="1"/>
          <p:nvPr/>
        </p:nvSpPr>
        <p:spPr>
          <a:xfrm>
            <a:off x="749808" y="2139696"/>
            <a:ext cx="5046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The customer experiences 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happens, and why is it valuable?</a:t>
            </a:r>
            <a:endParaRPr lang="en-US" sz="1400" dirty="0"/>
          </a:p>
        </p:txBody>
      </p:sp>
      <p:sp>
        <p:nvSpPr>
          <p:cNvPr id="10" name="Writing line 218"/>
          <p:cNvSpPr/>
          <p:nvPr/>
        </p:nvSpPr>
        <p:spPr>
          <a:xfrm>
            <a:off x="749808" y="3035808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1" name="Writing line 219"/>
          <p:cNvSpPr/>
          <p:nvPr/>
        </p:nvSpPr>
        <p:spPr>
          <a:xfrm>
            <a:off x="749808" y="3383280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2" name="Worksheet box 220"/>
          <p:cNvSpPr/>
          <p:nvPr/>
        </p:nvSpPr>
        <p:spPr>
          <a:xfrm>
            <a:off x="6194146" y="2011680"/>
            <a:ext cx="5448910" cy="1572768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221"/>
          <p:cNvSpPr txBox="1"/>
          <p:nvPr/>
        </p:nvSpPr>
        <p:spPr>
          <a:xfrm>
            <a:off x="6395314" y="2139696"/>
            <a:ext cx="5046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Someone else encounters 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makes them think, “I would like that”?</a:t>
            </a:r>
            <a:endParaRPr lang="en-US" sz="1400" dirty="0"/>
          </a:p>
        </p:txBody>
      </p:sp>
      <p:sp>
        <p:nvSpPr>
          <p:cNvPr id="14" name="Writing line 222"/>
          <p:cNvSpPr/>
          <p:nvPr/>
        </p:nvSpPr>
        <p:spPr>
          <a:xfrm>
            <a:off x="6395314" y="3035808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5" name="Writing line 223"/>
          <p:cNvSpPr/>
          <p:nvPr/>
        </p:nvSpPr>
        <p:spPr>
          <a:xfrm>
            <a:off x="6395314" y="3383280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Worksheet box 224"/>
          <p:cNvSpPr/>
          <p:nvPr/>
        </p:nvSpPr>
        <p:spPr>
          <a:xfrm>
            <a:off x="548640" y="3712464"/>
            <a:ext cx="5448910" cy="1572768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225"/>
          <p:cNvSpPr txBox="1"/>
          <p:nvPr/>
        </p:nvSpPr>
        <p:spPr>
          <a:xfrm>
            <a:off x="749808" y="3840480"/>
            <a:ext cx="5046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The bank gets the credit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Why is the experience recognisably ours?</a:t>
            </a:r>
            <a:endParaRPr lang="en-US" sz="1400" dirty="0"/>
          </a:p>
        </p:txBody>
      </p:sp>
      <p:sp>
        <p:nvSpPr>
          <p:cNvPr id="18" name="Writing line 226"/>
          <p:cNvSpPr/>
          <p:nvPr/>
        </p:nvSpPr>
        <p:spPr>
          <a:xfrm>
            <a:off x="749808" y="4736592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Writing line 227"/>
          <p:cNvSpPr/>
          <p:nvPr/>
        </p:nvSpPr>
        <p:spPr>
          <a:xfrm>
            <a:off x="749808" y="5084064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0" name="Worksheet box 228"/>
          <p:cNvSpPr/>
          <p:nvPr/>
        </p:nvSpPr>
        <p:spPr>
          <a:xfrm>
            <a:off x="6194146" y="3712464"/>
            <a:ext cx="5448910" cy="1572768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229"/>
          <p:cNvSpPr txBox="1"/>
          <p:nvPr/>
        </p:nvSpPr>
        <p:spPr>
          <a:xfrm>
            <a:off x="6395314" y="3840480"/>
            <a:ext cx="5046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The attraction travels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How could it strengthen preference across personas and propositions?</a:t>
            </a:r>
            <a:endParaRPr lang="en-US" sz="1400" dirty="0"/>
          </a:p>
        </p:txBody>
      </p:sp>
      <p:sp>
        <p:nvSpPr>
          <p:cNvPr id="22" name="Writing line 230"/>
          <p:cNvSpPr/>
          <p:nvPr/>
        </p:nvSpPr>
        <p:spPr>
          <a:xfrm>
            <a:off x="6395314" y="4736592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3" name="Writing line 231"/>
          <p:cNvSpPr/>
          <p:nvPr/>
        </p:nvSpPr>
        <p:spPr>
          <a:xfrm>
            <a:off x="6395314" y="5084064"/>
            <a:ext cx="5046574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4" name="Text 232"/>
          <p:cNvSpPr txBox="1"/>
          <p:nvPr/>
        </p:nvSpPr>
        <p:spPr>
          <a:xfrm>
            <a:off x="548640" y="5468112"/>
            <a:ext cx="54489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must be true?</a:t>
            </a:r>
            <a:endParaRPr lang="en-US" sz="1400" dirty="0"/>
          </a:p>
        </p:txBody>
      </p:sp>
      <p:sp>
        <p:nvSpPr>
          <p:cNvPr id="25" name="Writing line 233"/>
          <p:cNvSpPr/>
          <p:nvPr/>
        </p:nvSpPr>
        <p:spPr>
          <a:xfrm>
            <a:off x="548640" y="6035040"/>
            <a:ext cx="544891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6" name="Text 234"/>
          <p:cNvSpPr txBox="1"/>
          <p:nvPr/>
        </p:nvSpPr>
        <p:spPr>
          <a:xfrm>
            <a:off x="6194146" y="5468112"/>
            <a:ext cx="54489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should we learn next?</a:t>
            </a:r>
            <a:endParaRPr lang="en-US" sz="1400" dirty="0"/>
          </a:p>
        </p:txBody>
      </p:sp>
      <p:sp>
        <p:nvSpPr>
          <p:cNvPr id="27" name="Writing line 235"/>
          <p:cNvSpPr/>
          <p:nvPr/>
        </p:nvSpPr>
        <p:spPr>
          <a:xfrm>
            <a:off x="6194146" y="6035040"/>
            <a:ext cx="544891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8" name="Text 236"/>
          <p:cNvSpPr txBox="1"/>
          <p:nvPr/>
        </p:nvSpPr>
        <p:spPr>
          <a:xfrm>
            <a:off x="548640" y="6089904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Bring one customer story, four clear answers and the main assumption into the closing discussion.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Workshop close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Use the 30-minute closing block to compare, improve and decide.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Choose a direction worth investigating.</a:t>
            </a:r>
            <a:endParaRPr lang="en-US" sz="3200" dirty="0"/>
          </a:p>
        </p:txBody>
      </p:sp>
      <p:sp>
        <p:nvSpPr>
          <p:cNvPr id="4" name="Text 237"/>
          <p:cNvSpPr txBox="1"/>
          <p:nvPr/>
        </p:nvSpPr>
        <p:spPr>
          <a:xfrm>
            <a:off x="548640" y="1600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Hear the customer stories through the four questions. Challenge one assumption, preserve useful strengths and combine good elements where it improves the idea.</a:t>
            </a:r>
            <a:endParaRPr lang="en-US" sz="1800" dirty="0"/>
          </a:p>
        </p:txBody>
      </p:sp>
      <p:sp>
        <p:nvSpPr>
          <p:cNvPr id="5" name="Panel 238"/>
          <p:cNvSpPr/>
          <p:nvPr/>
        </p:nvSpPr>
        <p:spPr>
          <a:xfrm>
            <a:off x="548640" y="2423160"/>
            <a:ext cx="3567074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Text 239"/>
          <p:cNvSpPr txBox="1"/>
          <p:nvPr/>
        </p:nvSpPr>
        <p:spPr>
          <a:xfrm>
            <a:off x="777240" y="2651760"/>
            <a:ext cx="31098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Real customer value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Would someone care enough to want the relationship?</a:t>
            </a:r>
            <a:endParaRPr lang="en-US" sz="1400" dirty="0"/>
          </a:p>
        </p:txBody>
      </p:sp>
      <p:sp>
        <p:nvSpPr>
          <p:cNvPr id="7" name="Panel 240"/>
          <p:cNvSpPr/>
          <p:nvPr/>
        </p:nvSpPr>
        <p:spPr>
          <a:xfrm>
            <a:off x="4312310" y="2423160"/>
            <a:ext cx="3567074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Text 241"/>
          <p:cNvSpPr txBox="1"/>
          <p:nvPr/>
        </p:nvSpPr>
        <p:spPr>
          <a:xfrm>
            <a:off x="4540910" y="2651760"/>
            <a:ext cx="31098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Clear bank association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Would they connect the experience to our bank and have a reason to prefer us?</a:t>
            </a:r>
            <a:endParaRPr lang="en-US" sz="1400" dirty="0"/>
          </a:p>
        </p:txBody>
      </p:sp>
      <p:sp>
        <p:nvSpPr>
          <p:cNvPr id="9" name="Panel 242"/>
          <p:cNvSpPr/>
          <p:nvPr/>
        </p:nvSpPr>
        <p:spPr>
          <a:xfrm>
            <a:off x="8075981" y="2423160"/>
            <a:ext cx="3567074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Text 243"/>
          <p:cNvSpPr txBox="1"/>
          <p:nvPr/>
        </p:nvSpPr>
        <p:spPr>
          <a:xfrm>
            <a:off x="8304581" y="2651760"/>
            <a:ext cx="31098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Reach beyond one proposition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Could the central idea resonate across different persona contexts?</a:t>
            </a:r>
            <a:endParaRPr lang="en-US" sz="1400" dirty="0"/>
          </a:p>
        </p:txBody>
      </p:sp>
      <p:sp>
        <p:nvSpPr>
          <p:cNvPr id="11" name="Panel 244"/>
          <p:cNvSpPr/>
          <p:nvPr/>
        </p:nvSpPr>
        <p:spPr>
          <a:xfrm>
            <a:off x="548640" y="443484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2" name="Text 245"/>
          <p:cNvSpPr txBox="1"/>
          <p:nvPr/>
        </p:nvSpPr>
        <p:spPr>
          <a:xfrm>
            <a:off x="822960" y="44348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decision to capture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lead direction and a rationale; the main uncertainty; an executive sponsor, learning owner and review date.</a:t>
            </a:r>
            <a:endParaRPr lang="en-US" sz="1400" dirty="0"/>
          </a:p>
        </p:txBody>
      </p:sp>
      <p:sp>
        <p:nvSpPr>
          <p:cNvPr id="13" name="Text 246"/>
          <p:cNvSpPr txBox="1"/>
          <p:nvPr/>
        </p:nvSpPr>
        <p:spPr>
          <a:xfrm>
            <a:off x="548640" y="5669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Executive preference selects what to investigate. Customer evidence establishes whether the idea works.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Convenor only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Agree these practical points before the session. This page is not an attendee stimulus.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short guide for the convenor.</a:t>
            </a:r>
            <a:endParaRPr lang="en-US" sz="3200" dirty="0"/>
          </a:p>
        </p:txBody>
      </p:sp>
      <p:sp>
        <p:nvSpPr>
          <p:cNvPr id="4" name="Panel 247"/>
          <p:cNvSpPr/>
          <p:nvPr/>
        </p:nvSpPr>
        <p:spPr>
          <a:xfrm>
            <a:off x="548640" y="1600200"/>
            <a:ext cx="356707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Badge 248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249"/>
          <p:cNvSpPr txBox="1"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250"/>
          <p:cNvSpPr txBox="1"/>
          <p:nvPr/>
        </p:nvSpPr>
        <p:spPr>
          <a:xfrm>
            <a:off x="1353312" y="1856232"/>
            <a:ext cx="2506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Before</a:t>
            </a:r>
            <a:endParaRPr lang="en-US" sz="1800" dirty="0"/>
          </a:p>
        </p:txBody>
      </p:sp>
      <p:sp>
        <p:nvSpPr>
          <p:cNvPr id="8" name="Text 251"/>
          <p:cNvSpPr txBox="1"/>
          <p:nvPr/>
        </p:nvSpPr>
        <p:spPr>
          <a:xfrm>
            <a:off x="804672" y="2404872"/>
            <a:ext cx="305501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 the brief and fixed constraints. Arrange mixed-function teams. Agree the facilitator, scribe and decision owner. Experience design supplies the stimulus pages and concept sheet.</a:t>
            </a:r>
            <a:endParaRPr lang="en-US" sz="1500" dirty="0"/>
          </a:p>
        </p:txBody>
      </p:sp>
      <p:sp>
        <p:nvSpPr>
          <p:cNvPr id="9" name="Panel 252"/>
          <p:cNvSpPr/>
          <p:nvPr/>
        </p:nvSpPr>
        <p:spPr>
          <a:xfrm>
            <a:off x="4312310" y="1600200"/>
            <a:ext cx="356707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Badge 253"/>
          <p:cNvSpPr/>
          <p:nvPr/>
        </p:nvSpPr>
        <p:spPr>
          <a:xfrm>
            <a:off x="4568342" y="18562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254"/>
          <p:cNvSpPr txBox="1"/>
          <p:nvPr/>
        </p:nvSpPr>
        <p:spPr>
          <a:xfrm>
            <a:off x="456834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255"/>
          <p:cNvSpPr txBox="1"/>
          <p:nvPr/>
        </p:nvSpPr>
        <p:spPr>
          <a:xfrm>
            <a:off x="5116982" y="1856232"/>
            <a:ext cx="2506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During</a:t>
            </a:r>
            <a:endParaRPr lang="en-US" sz="1800" dirty="0"/>
          </a:p>
        </p:txBody>
      </p:sp>
      <p:sp>
        <p:nvSpPr>
          <p:cNvPr id="13" name="Text 256"/>
          <p:cNvSpPr txBox="1"/>
          <p:nvPr/>
        </p:nvSpPr>
        <p:spPr>
          <a:xfrm>
            <a:off x="4568342" y="2404872"/>
            <a:ext cx="305501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Discovery as a short opening reference and the three live examples as the main stimulus. Keep one sustained team block. With four teams, allow about five minutes each for story and discussion.</a:t>
            </a:r>
            <a:endParaRPr lang="en-US" sz="1500" dirty="0"/>
          </a:p>
        </p:txBody>
      </p:sp>
      <p:sp>
        <p:nvSpPr>
          <p:cNvPr id="14" name="Panel 257"/>
          <p:cNvSpPr/>
          <p:nvPr/>
        </p:nvSpPr>
        <p:spPr>
          <a:xfrm>
            <a:off x="8075981" y="1600200"/>
            <a:ext cx="356707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5" name="Badge 258"/>
          <p:cNvSpPr/>
          <p:nvPr/>
        </p:nvSpPr>
        <p:spPr>
          <a:xfrm>
            <a:off x="8332013" y="18562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259"/>
          <p:cNvSpPr txBox="1"/>
          <p:nvPr/>
        </p:nvSpPr>
        <p:spPr>
          <a:xfrm>
            <a:off x="8332013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260"/>
          <p:cNvSpPr txBox="1"/>
          <p:nvPr/>
        </p:nvSpPr>
        <p:spPr>
          <a:xfrm>
            <a:off x="8880653" y="1856232"/>
            <a:ext cx="2506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 the close</a:t>
            </a:r>
            <a:endParaRPr lang="en-US" sz="1800" dirty="0"/>
          </a:p>
        </p:txBody>
      </p:sp>
      <p:sp>
        <p:nvSpPr>
          <p:cNvPr id="18" name="Text 261"/>
          <p:cNvSpPr txBox="1"/>
          <p:nvPr/>
        </p:nvSpPr>
        <p:spPr>
          <a:xfrm>
            <a:off x="8332013" y="2404872"/>
            <a:ext cx="305501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Protect the final ten minutes for synthesis and ownership. Confirm the lead direction, the learning question and the next review. Circulate the captured sheet and decision through the agreed channel.</a:t>
            </a:r>
            <a:endParaRPr lang="en-US" sz="1500" dirty="0"/>
          </a:p>
        </p:txBody>
      </p:sp>
      <p:sp>
        <p:nvSpPr>
          <p:cNvPr id="19" name="Panel 262"/>
          <p:cNvSpPr/>
          <p:nvPr/>
        </p:nvSpPr>
        <p:spPr>
          <a:xfrm>
            <a:off x="548640" y="47091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0" name="Text 263"/>
          <p:cNvSpPr txBox="1"/>
          <p:nvPr/>
        </p:nvSpPr>
        <p:spPr>
          <a:xfrm>
            <a:off x="822960" y="4709160"/>
            <a:ext cx="105457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Suggested live material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Frame: four questions + Discovery + O2 + Santander + Museums on Us. Work: the common brief and concept sheet. Close: the outcome page. Local angles and territory prompts are optional support.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Reference</a:t>
            </a:r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·  Sources checked on 7 October 2026. Keep this page available for questions.</a:t>
            </a:r>
            <a:endParaRPr lang="en-US" sz="1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949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Evidence and interpretation stay separate.</a:t>
            </a:r>
            <a:endParaRPr lang="en-US" sz="3200" dirty="0"/>
          </a:p>
        </p:txBody>
      </p:sp>
      <p:sp>
        <p:nvSpPr>
          <p:cNvPr id="4" name="Panel 264"/>
          <p:cNvSpPr/>
          <p:nvPr/>
        </p:nvSpPr>
        <p:spPr>
          <a:xfrm>
            <a:off x="548640" y="1600200"/>
            <a:ext cx="356707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Text 265"/>
          <p:cNvSpPr txBox="1"/>
          <p:nvPr/>
        </p:nvSpPr>
        <p:spPr>
          <a:xfrm>
            <a:off x="777240" y="1764792"/>
            <a:ext cx="310987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u="sng" dirty="0">
                <a:solidFill>
                  <a:schemeClr val="tx2"/>
                </a:solidFill>
                <a:hlinkClick r:id="rId1" invalidUrl="" action="" tgtFrame="" tooltip="https://cdn.discovery.co.za/vitality/priority-fast-trac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Discovery Priority Fast Track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Qualifying cards and dedicated screening access.</a:t>
            </a:r>
            <a:endParaRPr lang="en-US" sz="1400" dirty="0"/>
          </a:p>
        </p:txBody>
      </p:sp>
      <p:sp>
        <p:nvSpPr>
          <p:cNvPr id="6" name="Panel 266"/>
          <p:cNvSpPr/>
          <p:nvPr/>
        </p:nvSpPr>
        <p:spPr>
          <a:xfrm>
            <a:off x="4312310" y="1600200"/>
            <a:ext cx="356707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267"/>
          <p:cNvSpPr txBox="1"/>
          <p:nvPr/>
        </p:nvSpPr>
        <p:spPr>
          <a:xfrm>
            <a:off x="4540910" y="1764792"/>
            <a:ext cx="310987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u="sng" dirty="0">
                <a:solidFill>
                  <a:schemeClr val="tx2"/>
                </a:solidFill>
                <a:hlinkClick r:id="rId2" invalidUrl="" action="" tgtFrame="" tooltip="https://www.o2.co.uk/sponsorship/the-o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O2 benefits at The O2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 access, customer spaces and accompanying friends.</a:t>
            </a:r>
            <a:endParaRPr lang="en-US" sz="1400" dirty="0"/>
          </a:p>
        </p:txBody>
      </p:sp>
      <p:sp>
        <p:nvSpPr>
          <p:cNvPr id="8" name="Panel 268"/>
          <p:cNvSpPr/>
          <p:nvPr/>
        </p:nvSpPr>
        <p:spPr>
          <a:xfrm>
            <a:off x="8075981" y="1600200"/>
            <a:ext cx="356707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Text 269"/>
          <p:cNvSpPr txBox="1"/>
          <p:nvPr/>
        </p:nvSpPr>
        <p:spPr>
          <a:xfrm>
            <a:off x="8304581" y="1764792"/>
            <a:ext cx="310987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u="sng" dirty="0">
                <a:solidFill>
                  <a:schemeClr val="tx2"/>
                </a:solidFill>
                <a:hlinkClick r:id="rId3" invalidUrl="" action="" tgtFrame="" tooltip="https://www.santander.co.uk/workcaf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Santander UK Work Cafés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workspace and specified banking-customer room entitlement.</a:t>
            </a:r>
            <a:endParaRPr lang="en-US" sz="1400" dirty="0"/>
          </a:p>
        </p:txBody>
      </p:sp>
      <p:sp>
        <p:nvSpPr>
          <p:cNvPr id="10" name="Panel 270"/>
          <p:cNvSpPr/>
          <p:nvPr/>
        </p:nvSpPr>
        <p:spPr>
          <a:xfrm>
            <a:off x="548640" y="2926080"/>
            <a:ext cx="356707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Text 271"/>
          <p:cNvSpPr txBox="1"/>
          <p:nvPr/>
        </p:nvSpPr>
        <p:spPr>
          <a:xfrm>
            <a:off x="777240" y="3090672"/>
            <a:ext cx="310987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u="sng" dirty="0">
                <a:solidFill>
                  <a:schemeClr val="tx2"/>
                </a:solidFill>
                <a:hlinkClick r:id="rId4" invalidUrl="" action="" tgtFrame="" tooltip="https://about.bankofamerica.com/en/making-an-impact/arts-and-cul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Museums on Us eligibility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Individual admission, qualifying cards and monthly timing.</a:t>
            </a:r>
            <a:endParaRPr lang="en-US" sz="1400" dirty="0"/>
          </a:p>
        </p:txBody>
      </p:sp>
      <p:sp>
        <p:nvSpPr>
          <p:cNvPr id="12" name="Panel 272"/>
          <p:cNvSpPr/>
          <p:nvPr/>
        </p:nvSpPr>
        <p:spPr>
          <a:xfrm>
            <a:off x="4312310" y="2926080"/>
            <a:ext cx="356707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 273"/>
          <p:cNvSpPr txBox="1"/>
          <p:nvPr/>
        </p:nvSpPr>
        <p:spPr>
          <a:xfrm>
            <a:off x="4540910" y="3090672"/>
            <a:ext cx="310987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u="sng" dirty="0">
                <a:solidFill>
                  <a:schemeClr val="tx2"/>
                </a:solidFill>
                <a:hlinkClick r:id="rId5" invalidUrl="" action="" tgtFrame="" tooltip="https://www.discovery.co.za/vitality/ster-kinek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Discovery Vitality cinema benefit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Vitality Health qualification and child review requirements.</a:t>
            </a:r>
            <a:endParaRPr lang="en-US" sz="1400" dirty="0"/>
          </a:p>
        </p:txBody>
      </p:sp>
      <p:sp>
        <p:nvSpPr>
          <p:cNvPr id="14" name="Panel 274"/>
          <p:cNvSpPr/>
          <p:nvPr/>
        </p:nvSpPr>
        <p:spPr>
          <a:xfrm>
            <a:off x="8075981" y="2926080"/>
            <a:ext cx="3567074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Text 275"/>
          <p:cNvSpPr txBox="1"/>
          <p:nvPr/>
        </p:nvSpPr>
        <p:spPr>
          <a:xfrm>
            <a:off x="8304581" y="3090672"/>
            <a:ext cx="310987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u="sng" dirty="0">
                <a:solidFill>
                  <a:schemeClr val="tx2"/>
                </a:solidFill>
                <a:hlinkClick r:id="rId6" invalidUrl="" action="" tgtFrame="" tooltip="https://www.fnb.co.za/ways-to-bank/branch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FNB Home Affairs services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Specified processes, customer eligibility and participating branches.</a:t>
            </a:r>
            <a:endParaRPr lang="en-US" sz="1400" dirty="0"/>
          </a:p>
        </p:txBody>
      </p:sp>
      <p:sp>
        <p:nvSpPr>
          <p:cNvPr id="16" name="Panel 276"/>
          <p:cNvSpPr/>
          <p:nvPr/>
        </p:nvSpPr>
        <p:spPr>
          <a:xfrm>
            <a:off x="548640" y="4315968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7" name="Text 277"/>
          <p:cNvSpPr txBox="1"/>
          <p:nvPr/>
        </p:nvSpPr>
        <p:spPr>
          <a:xfrm>
            <a:off x="822960" y="4315968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the sources establish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offers and eligibility described. Persona relevance, symbolic meaning and a halo across propositions are interpretations to investigate.</a:t>
            </a:r>
            <a:endParaRPr lang="en-US" sz="1400" dirty="0"/>
          </a:p>
        </p:txBody>
      </p:sp>
      <p:sp>
        <p:nvSpPr>
          <p:cNvPr id="18" name="Text 278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Photos come from the official example pages. Santander’s image is from its </a:t>
            </a:r>
            <a:pPr indent="0" marL="0">
              <a:buNone/>
            </a:pPr>
            <a:r>
              <a:rPr lang="en-US" sz="1100" u="sng" dirty="0">
                <a:solidFill>
                  <a:schemeClr val="tx2"/>
                </a:solidFill>
                <a:hlinkClick r:id="rId7" invalidUrl="" action="" tgtFrame="" tooltip="https://www.santander.co.uk/workcafe/london-cheapsi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Cheapside page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. </a:t>
            </a:r>
            <a:pPr indent="0" marL="0">
              <a:buNone/>
            </a:pPr>
            <a:r>
              <a:rPr lang="en-US" sz="1100" u="sng" dirty="0">
                <a:solidFill>
                  <a:schemeClr val="tx2"/>
                </a:solidFill>
                <a:hlinkClick r:id="rId8" invalidUrl="" action="" tgtFrame="" tooltip="https://ramophalatse.github.io/design-studio/main-bank-workshop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V1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retains the wider mechanism library. No causal claim about South African bank choice is made.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31375" y="6355080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bank Green Spectrum">
  <a:themeElements>
    <a:clrScheme name="Nedbank Green Spectrum">
      <a:dk1>
        <a:srgbClr val="020202"/>
      </a:dk1>
      <a:lt1>
        <a:srgbClr val="FFFFFF"/>
      </a:lt1>
      <a:dk2>
        <a:srgbClr val="006341"/>
      </a:dk2>
      <a:lt2>
        <a:srgbClr val="E7F7F1"/>
      </a:lt2>
      <a:accent1>
        <a:srgbClr val="006341"/>
      </a:accent1>
      <a:accent2>
        <a:srgbClr val="00E677"/>
      </a:accent2>
      <a:accent3>
        <a:srgbClr val="10A867"/>
      </a:accent3>
      <a:accent4>
        <a:srgbClr val="004D36"/>
      </a:accent4>
      <a:accent5>
        <a:srgbClr val="003A29"/>
      </a:accent5>
      <a:accent6>
        <a:srgbClr val="4D7569"/>
      </a:accent6>
      <a:hlink>
        <a:srgbClr val="006341"/>
      </a:hlink>
      <a:folHlink>
        <a:srgbClr val="004D36"/>
      </a:folHlink>
    </a:clrScheme>
    <a:fontScheme name="Nedbank Green Spectru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reason to belong: stakeholder walkthrough V3</dc:title>
  <dc:subject>A focused 90-minute executive workshop</dc:subject>
  <dc:creator>PptxGenJS</dc:creator>
  <cp:lastModifiedBy>PptxGenJS</cp:lastModifiedBy>
  <cp:revision>1</cp:revision>
  <dcterms:created xsi:type="dcterms:W3CDTF">2026-10-07T12:41:25Z</dcterms:created>
  <dcterms:modified xsi:type="dcterms:W3CDTF">2026-10-07T12:41:25Z</dcterms:modified>
</cp:coreProperties>
</file>